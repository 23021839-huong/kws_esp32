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16"/>
  </p:notesMasterIdLst>
  <p:sldIdLst>
    <p:sldId id="256" r:id="rId3"/>
    <p:sldId id="257" r:id="rId4"/>
    <p:sldId id="276" r:id="rId5"/>
    <p:sldId id="289" r:id="rId6"/>
    <p:sldId id="284" r:id="rId7"/>
    <p:sldId id="288" r:id="rId8"/>
    <p:sldId id="290" r:id="rId9"/>
    <p:sldId id="287" r:id="rId10"/>
    <p:sldId id="293" r:id="rId11"/>
    <p:sldId id="291" r:id="rId12"/>
    <p:sldId id="294" r:id="rId13"/>
    <p:sldId id="281" r:id="rId14"/>
    <p:sldId id="262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783341-C6CC-49C1-ADFD-FF445B9C992B}" type="doc">
      <dgm:prSet loTypeId="urn:microsoft.com/office/officeart/2005/8/layout/hChevron3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AA6D0F8F-DB36-42F5-B3E9-792D0ED99C8D}" type="pres">
      <dgm:prSet presAssocID="{74783341-C6CC-49C1-ADFD-FF445B9C992B}" presName="Name0" presStyleCnt="0">
        <dgm:presLayoutVars>
          <dgm:dir/>
          <dgm:resizeHandles val="exact"/>
        </dgm:presLayoutVars>
      </dgm:prSet>
      <dgm:spPr/>
    </dgm:pt>
  </dgm:ptLst>
  <dgm:cxnLst>
    <dgm:cxn modelId="{FC0CCE92-7A4F-493D-A09C-06F4484A92D9}" type="presOf" srcId="{74783341-C6CC-49C1-ADFD-FF445B9C992B}" destId="{AA6D0F8F-DB36-42F5-B3E9-792D0ED99C8D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A88CCB-4C66-4E26-848D-9D9E34CC2CB9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D16CE2-2286-4C44-936F-178BC09F3F73}" type="pres">
      <dgm:prSet presAssocID="{24A88CCB-4C66-4E26-848D-9D9E34CC2CB9}" presName="Name0" presStyleCnt="0">
        <dgm:presLayoutVars>
          <dgm:dir/>
          <dgm:resizeHandles val="exact"/>
        </dgm:presLayoutVars>
      </dgm:prSet>
      <dgm:spPr/>
    </dgm:pt>
  </dgm:ptLst>
  <dgm:cxnLst>
    <dgm:cxn modelId="{7060D970-5568-4B61-8612-80A61F7BAE22}" type="presOf" srcId="{24A88CCB-4C66-4E26-848D-9D9E34CC2CB9}" destId="{38D16CE2-2286-4C44-936F-178BC09F3F73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A88CCB-4C66-4E26-848D-9D9E34CC2CB9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8D16CE2-2286-4C44-936F-178BC09F3F73}" type="pres">
      <dgm:prSet presAssocID="{24A88CCB-4C66-4E26-848D-9D9E34CC2CB9}" presName="Name0" presStyleCnt="0">
        <dgm:presLayoutVars>
          <dgm:dir/>
          <dgm:resizeHandles val="exact"/>
        </dgm:presLayoutVars>
      </dgm:prSet>
      <dgm:spPr/>
    </dgm:pt>
  </dgm:ptLst>
  <dgm:cxnLst>
    <dgm:cxn modelId="{7060D970-5568-4B61-8612-80A61F7BAE22}" type="presOf" srcId="{24A88CCB-4C66-4E26-848D-9D9E34CC2CB9}" destId="{38D16CE2-2286-4C44-936F-178BC09F3F73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4F6B1-AD4B-4DA0-970D-D642729C0080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38113D-10EA-4FC3-AEC0-FBB70D9270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6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 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hình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 err="1">
                <a:sym typeface="Wingdings" panose="05000000000000000000" pitchFamily="2" charset="2"/>
              </a:rPr>
              <a:t>Feedb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ali</a:t>
            </a:r>
            <a:r>
              <a:rPr lang="en-US" dirty="0">
                <a:sym typeface="Wingdings" panose="05000000000000000000" pitchFamily="2" charset="2"/>
              </a:rPr>
              <a:t> : </a:t>
            </a:r>
            <a:r>
              <a:rPr lang="en-US" dirty="0" err="1">
                <a:sym typeface="Wingdings" panose="05000000000000000000" pitchFamily="2" charset="2"/>
              </a:rPr>
              <a:t>một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phương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pháp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thay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lan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truyền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nfuoqjc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HL : </a:t>
            </a:r>
            <a:r>
              <a:rPr lang="en-US" dirty="0" err="1">
                <a:sym typeface="Wingdings" panose="05000000000000000000" pitchFamily="2" charset="2"/>
              </a:rPr>
              <a:t>học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hỗn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hợp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kêt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hợp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stdp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ym typeface="Wingdings" panose="05000000000000000000" pitchFamily="2" charset="2"/>
              </a:rPr>
              <a:t>giảm</a:t>
            </a:r>
            <a:r>
              <a:rPr lang="en-US" dirty="0">
                <a:sym typeface="Wingdings" panose="05000000000000000000" pitchFamily="2" charset="2"/>
              </a:rPr>
              <a:t> 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3324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8113D-10EA-4FC3-AEC0-FBB70D92701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19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0" y="0"/>
            <a:ext cx="12192000" cy="1676400"/>
          </a:xfrm>
          <a:prstGeom prst="rect">
            <a:avLst/>
          </a:prstGeom>
          <a:gradFill>
            <a:gsLst>
              <a:gs pos="0">
                <a:srgbClr val="FF7171"/>
              </a:gs>
              <a:gs pos="44000">
                <a:srgbClr val="BE1212"/>
              </a:gs>
              <a:gs pos="100000">
                <a:srgbClr val="5800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1"/>
          <p:cNvSpPr txBox="1"/>
          <p:nvPr/>
        </p:nvSpPr>
        <p:spPr>
          <a:xfrm rot="5400000">
            <a:off x="5257800" y="-5257800"/>
            <a:ext cx="1676400" cy="12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1"/>
          <p:cNvSpPr txBox="1">
            <a:spLocks noGrp="1"/>
          </p:cNvSpPr>
          <p:nvPr>
            <p:ph type="subTitle" idx="1"/>
          </p:nvPr>
        </p:nvSpPr>
        <p:spPr>
          <a:xfrm>
            <a:off x="1828800" y="4191000"/>
            <a:ext cx="85344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467E756-AC73-4FA1-AA2A-5975ED73B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E9C4A5A1-4796-48DF-9EFC-FF03CDD1B01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Google Shape;25;p11"/>
          <p:cNvSpPr txBox="1"/>
          <p:nvPr/>
        </p:nvSpPr>
        <p:spPr>
          <a:xfrm>
            <a:off x="1953564" y="384091"/>
            <a:ext cx="9458269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VIETNAM NATIONAL UNIVERSITY HANOI</a:t>
            </a:r>
            <a:endParaRPr sz="2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VNU INFORMATION TECHNOLOGY INSTITUTE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228722"/>
            <a:ext cx="1191564" cy="121895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7" name="Google Shape;27;p11" descr="A logo with a chip in the midd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507" y="1695452"/>
            <a:ext cx="1606550" cy="16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1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rgbClr val="0070C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9" name="Google Shape;29;p11"/>
          <p:cNvGrpSpPr/>
          <p:nvPr/>
        </p:nvGrpSpPr>
        <p:grpSpPr>
          <a:xfrm>
            <a:off x="9840653" y="233433"/>
            <a:ext cx="2125707" cy="1365330"/>
            <a:chOff x="8049953" y="734578"/>
            <a:chExt cx="2125707" cy="1365330"/>
          </a:xfrm>
        </p:grpSpPr>
        <p:sp>
          <p:nvSpPr>
            <p:cNvPr id="30" name="Google Shape;30;p11"/>
            <p:cNvSpPr/>
            <p:nvPr/>
          </p:nvSpPr>
          <p:spPr>
            <a:xfrm rot="-866574">
              <a:off x="8131751" y="964975"/>
              <a:ext cx="1962111" cy="90453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" name="Google Shape;31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8088" y="898776"/>
              <a:ext cx="1949436" cy="1028198"/>
            </a:xfrm>
            <a:custGeom>
              <a:avLst/>
              <a:gdLst/>
              <a:ahLst/>
              <a:cxnLst/>
              <a:rect l="l" t="t" r="r" b="b"/>
              <a:pathLst>
                <a:path w="1949436" h="1028198" extrusionOk="0">
                  <a:moveTo>
                    <a:pt x="1" y="1"/>
                  </a:moveTo>
                  <a:lnTo>
                    <a:pt x="1949437" y="1"/>
                  </a:lnTo>
                  <a:lnTo>
                    <a:pt x="1949437" y="1028200"/>
                  </a:lnTo>
                  <a:lnTo>
                    <a:pt x="1" y="102820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35967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 preserve="1">
  <p:cSld name="Title and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title"/>
          </p:nvPr>
        </p:nvSpPr>
        <p:spPr>
          <a:xfrm>
            <a:off x="1320800" y="152400"/>
            <a:ext cx="10261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1"/>
          </p:nvPr>
        </p:nvSpPr>
        <p:spPr>
          <a:xfrm>
            <a:off x="609600" y="1143002"/>
            <a:ext cx="109728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F243E"/>
              </a:buClr>
              <a:buSzPts val="2400"/>
              <a:buChar char="•"/>
              <a:defRPr sz="2400">
                <a:solidFill>
                  <a:srgbClr val="0F243E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12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1C145C0-7269-421A-92E2-2F29E161ADE6}" type="datetime1">
              <a:rPr lang="en-US" smtClean="0"/>
              <a:t>6/26/2026</a:t>
            </a:fld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3916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0"/>
            <a:ext cx="12192000" cy="1676400"/>
          </a:xfrm>
          <a:prstGeom prst="rect">
            <a:avLst/>
          </a:prstGeom>
          <a:gradFill>
            <a:gsLst>
              <a:gs pos="0">
                <a:srgbClr val="FF7171"/>
              </a:gs>
              <a:gs pos="44000">
                <a:srgbClr val="BE1212"/>
              </a:gs>
              <a:gs pos="100000">
                <a:srgbClr val="5800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/>
        </p:nvSpPr>
        <p:spPr>
          <a:xfrm rot="5400000">
            <a:off x="5257800" y="-5257800"/>
            <a:ext cx="1676400" cy="12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0"/>
          <p:cNvSpPr txBox="1">
            <a:spLocks noGrp="1"/>
          </p:cNvSpPr>
          <p:nvPr>
            <p:ph type="subTitle" idx="1"/>
          </p:nvPr>
        </p:nvSpPr>
        <p:spPr>
          <a:xfrm>
            <a:off x="1828800" y="4191000"/>
            <a:ext cx="85344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9BAF110-8749-44FA-BA79-E284739DC54D}" type="datetime1">
              <a:rPr lang="en-US" smtClean="0"/>
              <a:t>6/26/2026</a:t>
            </a:fld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0"/>
          <p:cNvSpPr txBox="1"/>
          <p:nvPr/>
        </p:nvSpPr>
        <p:spPr>
          <a:xfrm>
            <a:off x="1953564" y="384091"/>
            <a:ext cx="9458269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VIETNAM NATIONAL UNIVERSITY HANOI</a:t>
            </a:r>
            <a:endParaRPr sz="2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VNU INFORMATION TECHNOLOGY INSTITUTE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0" y="228722"/>
            <a:ext cx="1191564" cy="121895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56" name="Google Shape;56;p10" descr="A logo with a chip in the midd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507" y="1695452"/>
            <a:ext cx="1606550" cy="16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67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rgbClr val="0070C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58" name="Google Shape;58;p10"/>
          <p:cNvGrpSpPr/>
          <p:nvPr/>
        </p:nvGrpSpPr>
        <p:grpSpPr>
          <a:xfrm>
            <a:off x="9840653" y="233433"/>
            <a:ext cx="2125707" cy="1365330"/>
            <a:chOff x="8049953" y="734578"/>
            <a:chExt cx="2125707" cy="1365330"/>
          </a:xfrm>
        </p:grpSpPr>
        <p:sp>
          <p:nvSpPr>
            <p:cNvPr id="59" name="Google Shape;59;p10"/>
            <p:cNvSpPr/>
            <p:nvPr/>
          </p:nvSpPr>
          <p:spPr>
            <a:xfrm rot="-866574">
              <a:off x="8131751" y="964975"/>
              <a:ext cx="1962111" cy="90453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" name="Google Shape;60;p1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38088" y="898776"/>
              <a:ext cx="1949436" cy="1028198"/>
            </a:xfrm>
            <a:custGeom>
              <a:avLst/>
              <a:gdLst/>
              <a:ahLst/>
              <a:cxnLst/>
              <a:rect l="l" t="t" r="r" b="b"/>
              <a:pathLst>
                <a:path w="1949436" h="1028198" extrusionOk="0">
                  <a:moveTo>
                    <a:pt x="1" y="1"/>
                  </a:moveTo>
                  <a:lnTo>
                    <a:pt x="1949437" y="1"/>
                  </a:lnTo>
                  <a:lnTo>
                    <a:pt x="1949437" y="1028200"/>
                  </a:lnTo>
                  <a:lnTo>
                    <a:pt x="1" y="1028200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61537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e_CEA Tech" preserve="1">
  <p:cSld name="Texte_CEA Tech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body" idx="1"/>
          </p:nvPr>
        </p:nvSpPr>
        <p:spPr>
          <a:xfrm>
            <a:off x="479002" y="1257300"/>
            <a:ext cx="11232000" cy="505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24053" algn="l">
              <a:lnSpc>
                <a:spcPct val="100000"/>
              </a:lnSpc>
              <a:spcBef>
                <a:spcPts val="492"/>
              </a:spcBef>
              <a:spcAft>
                <a:spcPts val="0"/>
              </a:spcAft>
              <a:buClr>
                <a:srgbClr val="002060"/>
              </a:buClr>
              <a:buSzPts val="3078"/>
              <a:buFont typeface="Arial"/>
              <a:buChar char="•"/>
              <a:defRPr sz="2462">
                <a:solidFill>
                  <a:srgbClr val="002060"/>
                </a:solidFill>
              </a:defRPr>
            </a:lvl1pPr>
            <a:lvl2pPr marL="914400" lvl="1" indent="-404431" algn="l">
              <a:lnSpc>
                <a:spcPct val="100000"/>
              </a:lnSpc>
              <a:spcBef>
                <a:spcPts val="443"/>
              </a:spcBef>
              <a:spcAft>
                <a:spcPts val="0"/>
              </a:spcAft>
              <a:buClr>
                <a:srgbClr val="002060"/>
              </a:buClr>
              <a:buSzPts val="2769"/>
              <a:buFont typeface="Arial"/>
              <a:buChar char="•"/>
              <a:defRPr sz="2215">
                <a:solidFill>
                  <a:srgbClr val="002060"/>
                </a:solidFill>
              </a:defRPr>
            </a:lvl2pPr>
            <a:lvl3pPr marL="1371600" lvl="2" indent="-384873" algn="l">
              <a:lnSpc>
                <a:spcPct val="100000"/>
              </a:lnSpc>
              <a:spcBef>
                <a:spcPts val="394"/>
              </a:spcBef>
              <a:spcAft>
                <a:spcPts val="0"/>
              </a:spcAft>
              <a:buClr>
                <a:srgbClr val="002060"/>
              </a:buClr>
              <a:buSzPts val="2461"/>
              <a:buFont typeface="Arial"/>
              <a:buChar char="•"/>
              <a:defRPr sz="1969">
                <a:solidFill>
                  <a:srgbClr val="002060"/>
                </a:solidFill>
              </a:defRPr>
            </a:lvl3pPr>
            <a:lvl4pPr marL="1828800" lvl="3" indent="-365379" algn="l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>
                <a:srgbClr val="002060"/>
              </a:buClr>
              <a:buSzPts val="2154"/>
              <a:buFont typeface="Arial"/>
              <a:buChar char="•"/>
              <a:defRPr sz="1723">
                <a:solidFill>
                  <a:srgbClr val="002060"/>
                </a:solidFill>
              </a:defRPr>
            </a:lvl4pPr>
            <a:lvl5pPr marL="2286000" lvl="4" indent="-34582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002060"/>
              </a:buClr>
              <a:buSzPts val="1846"/>
              <a:buFont typeface="Arial"/>
              <a:buChar char="•"/>
              <a:defRPr sz="1477">
                <a:solidFill>
                  <a:srgbClr val="002060"/>
                </a:solidFill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2"/>
          </p:nvPr>
        </p:nvSpPr>
        <p:spPr>
          <a:xfrm>
            <a:off x="1594338" y="76200"/>
            <a:ext cx="9780601" cy="77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89"/>
              </a:spcBef>
              <a:spcAft>
                <a:spcPts val="0"/>
              </a:spcAft>
              <a:buClr>
                <a:schemeClr val="lt1"/>
              </a:buClr>
              <a:buSzPts val="3446"/>
              <a:buFont typeface="Arial"/>
              <a:buNone/>
              <a:defRPr sz="3446" b="1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dt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C85810D-6AB7-49B5-A026-B0AEF7925D57}" type="datetime1">
              <a:rPr lang="en-US" smtClean="0"/>
              <a:t>6/26/2026</a:t>
            </a:fld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ft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229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3D474D8-636B-471B-8892-5C499FA5C925}" type="datetime1">
              <a:rPr lang="en-US" smtClean="0"/>
              <a:t>6/26/2026</a:t>
            </a:fld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30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 preserve="1">
  <p:cSld name="Comparis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1320800" y="152400"/>
            <a:ext cx="10261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609600" y="1143000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2"/>
          </p:nvPr>
        </p:nvSpPr>
        <p:spPr>
          <a:xfrm>
            <a:off x="609600" y="1828801"/>
            <a:ext cx="5386917" cy="429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3"/>
          </p:nvPr>
        </p:nvSpPr>
        <p:spPr>
          <a:xfrm>
            <a:off x="6193367" y="1143000"/>
            <a:ext cx="5389034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4"/>
          </p:nvPr>
        </p:nvSpPr>
        <p:spPr>
          <a:xfrm>
            <a:off x="6193367" y="1828801"/>
            <a:ext cx="5389034" cy="429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53FAEBB-98EC-45C5-A42C-AD35C51E48E5}" type="datetime1">
              <a:rPr lang="en-US" smtClean="0"/>
              <a:t>6/26/2026</a:t>
            </a:fld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385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1320800" y="152400"/>
            <a:ext cx="10261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B3ADC0F-547D-4100-904F-E19DAFEE9E4A}" type="datetime1">
              <a:rPr lang="en-US" smtClean="0"/>
              <a:t>6/26/2026</a:t>
            </a:fld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5792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AAC33D0-47B8-44CB-8D69-1BFD70C1C091}" type="datetime1">
              <a:rPr lang="en-US" smtClean="0"/>
              <a:t>6/26/2026</a:t>
            </a:fld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15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 preserve="1">
  <p:cSld name="Content with Ca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609600" y="1079500"/>
            <a:ext cx="4011084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4766734" y="1066802"/>
            <a:ext cx="6815666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Google Shape;101;p19"/>
          <p:cNvSpPr txBox="1">
            <a:spLocks noGrp="1"/>
          </p:cNvSpPr>
          <p:nvPr>
            <p:ph type="body" idx="2"/>
          </p:nvPr>
        </p:nvSpPr>
        <p:spPr>
          <a:xfrm>
            <a:off x="609600" y="1905000"/>
            <a:ext cx="4011084" cy="4221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Google Shape;102;p19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B1BD4F5-DE44-4753-80B6-AFD40A748E5C}" type="datetime1">
              <a:rPr lang="en-US" smtClean="0"/>
              <a:t>6/26/2026</a:t>
            </a:fld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80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 preserve="1">
  <p:cSld name="Picture with Caption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7" name="Google Shape;107;p20"/>
          <p:cNvSpPr>
            <a:spLocks noGrp="1"/>
          </p:cNvSpPr>
          <p:nvPr>
            <p:ph type="pic" idx="2"/>
          </p:nvPr>
        </p:nvSpPr>
        <p:spPr>
          <a:xfrm>
            <a:off x="2389717" y="1066801"/>
            <a:ext cx="7315200" cy="3660775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Google Shape;109;p2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4FB7137-51E1-4E7C-B297-475BAD61F6CA}" type="datetime1">
              <a:rPr lang="en-US" smtClean="0"/>
              <a:t>6/26/2026</a:t>
            </a:fld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6673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 preserve="1">
  <p:cSld name="Title and Vertical 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1320800" y="152400"/>
            <a:ext cx="10261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 rot="5400000">
            <a:off x="3604419" y="-1851816"/>
            <a:ext cx="49831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5" name="Google Shape;115;p2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963D6E9-B343-4336-8A1D-4A357F5A9AB8}" type="datetime1">
              <a:rPr lang="en-US" smtClean="0"/>
              <a:t>6/26/2026</a:t>
            </a:fld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8515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 preserve="1">
  <p:cSld name="Vertical Title and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 rot="5400000">
            <a:off x="7681119" y="2224884"/>
            <a:ext cx="50593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 rot="5400000">
            <a:off x="2093119" y="-416717"/>
            <a:ext cx="50593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1" name="Google Shape;121;p22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AA0FBC2-53A9-42AA-87A0-FAD16CB5D580}" type="datetime1">
              <a:rPr lang="en-US" smtClean="0"/>
              <a:t>6/26/2026</a:t>
            </a:fld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6534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FF7171"/>
              </a:gs>
              <a:gs pos="44000">
                <a:srgbClr val="BE1212"/>
              </a:gs>
              <a:gs pos="100000">
                <a:srgbClr val="5800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"/>
          <p:cNvSpPr txBox="1"/>
          <p:nvPr/>
        </p:nvSpPr>
        <p:spPr>
          <a:xfrm rot="5400000">
            <a:off x="5600700" y="-5600700"/>
            <a:ext cx="990600" cy="12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"/>
          <p:cNvSpPr txBox="1">
            <a:spLocks noGrp="1"/>
          </p:cNvSpPr>
          <p:nvPr>
            <p:ph type="title"/>
          </p:nvPr>
        </p:nvSpPr>
        <p:spPr>
          <a:xfrm>
            <a:off x="1320800" y="152400"/>
            <a:ext cx="10261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body" idx="1"/>
          </p:nvPr>
        </p:nvSpPr>
        <p:spPr>
          <a:xfrm>
            <a:off x="609600" y="1143002"/>
            <a:ext cx="109728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B467E756-AC73-4FA1-AA2A-5975ED73BF0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E9C4A5A1-4796-48DF-9EFC-FF03CDD1B01F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Google Shape;1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0" y="120622"/>
            <a:ext cx="762000" cy="7795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98188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FF7171"/>
              </a:gs>
              <a:gs pos="44000">
                <a:srgbClr val="BE1212"/>
              </a:gs>
              <a:gs pos="100000">
                <a:srgbClr val="580000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 txBox="1"/>
          <p:nvPr/>
        </p:nvSpPr>
        <p:spPr>
          <a:xfrm rot="5400000">
            <a:off x="5600700" y="-5600700"/>
            <a:ext cx="990600" cy="12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1320800" y="152400"/>
            <a:ext cx="102616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609600" y="1143002"/>
            <a:ext cx="10972800" cy="4983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39204B7-246E-4E3F-A3A1-840E51BBE46A}" type="datetime1">
              <a:rPr lang="en-US" smtClean="0"/>
              <a:t>6/26/2026</a:t>
            </a:fld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/>
              <a:t>Nguyễn Văn Hướng@CICA-ITI</a:t>
            </a: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85750" y="120622"/>
            <a:ext cx="762000" cy="779517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241127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nntorch.readthedocs.io/en/latest/snn.neurons_rleaky.html" TargetMode="External"/><Relationship Id="rId2" Type="http://schemas.openxmlformats.org/officeDocument/2006/relationships/hyperlink" Target="https://snntorch.readthedocs.io/en/latest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Mjy_EYsSthKWXnhw-QDP3cxiPvHi7tSA?usp=sharing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EFFEAA-DD20-C7C4-E594-30CDE22EB6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vi-VN" sz="3200" b="1" dirty="0">
                <a:solidFill>
                  <a:schemeClr val="dk1"/>
                </a:solidFill>
              </a:rPr>
              <a:t>Nguyễn Văn Hướng</a:t>
            </a:r>
            <a:endParaRPr lang="vi-VN" dirty="0"/>
          </a:p>
          <a:p>
            <a:pPr lvl="0"/>
            <a:r>
              <a:rPr lang="vi-VN" dirty="0"/>
              <a:t>VNU - Information Technology Institute (ITI)</a:t>
            </a:r>
          </a:p>
          <a:p>
            <a:pPr lvl="0"/>
            <a:r>
              <a:rPr lang="vi-VN" dirty="0"/>
              <a:t>Email: 23021839@vnu.edu.vn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7C07B-2CF8-1D0C-8835-488F4692B6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26665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27ED3-5078-9A81-18D9-2BCF07CC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qua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E7C6C-BBCF-8E0F-9C86-476907BA9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627" y="1295402"/>
            <a:ext cx="5486400" cy="4983163"/>
          </a:xfrm>
        </p:spPr>
        <p:txBody>
          <a:bodyPr>
            <a:normAutofit/>
          </a:bodyPr>
          <a:lstStyle/>
          <a:p>
            <a:r>
              <a:rPr lang="en-US" sz="2300" dirty="0" err="1">
                <a:solidFill>
                  <a:schemeClr val="tx1"/>
                </a:solidFill>
              </a:rPr>
              <a:t>Tối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ưu</a:t>
            </a:r>
            <a:r>
              <a:rPr lang="en-US" sz="2300" dirty="0">
                <a:solidFill>
                  <a:schemeClr val="tx1"/>
                </a:solidFill>
              </a:rPr>
              <a:t> model surrogate </a:t>
            </a:r>
            <a:r>
              <a:rPr lang="en-US" sz="2300" dirty="0" err="1">
                <a:solidFill>
                  <a:schemeClr val="tx1"/>
                </a:solidFill>
              </a:rPr>
              <a:t>hiện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tại</a:t>
            </a:r>
            <a:r>
              <a:rPr lang="en-US" sz="2300" dirty="0">
                <a:solidFill>
                  <a:schemeClr val="tx1"/>
                </a:solidFill>
              </a:rPr>
              <a:t>, </a:t>
            </a:r>
            <a:r>
              <a:rPr lang="en-US" sz="2300" dirty="0" err="1">
                <a:solidFill>
                  <a:schemeClr val="tx1"/>
                </a:solidFill>
              </a:rPr>
              <a:t>tìm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thêm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các</a:t>
            </a:r>
            <a:r>
              <a:rPr lang="en-US" sz="2300" dirty="0">
                <a:solidFill>
                  <a:schemeClr val="tx1"/>
                </a:solidFill>
              </a:rPr>
              <a:t> model </a:t>
            </a:r>
            <a:r>
              <a:rPr lang="en-US" sz="2300" dirty="0" err="1">
                <a:solidFill>
                  <a:schemeClr val="tx1"/>
                </a:solidFill>
              </a:rPr>
              <a:t>mới</a:t>
            </a:r>
            <a:endParaRPr lang="en-US" sz="2300" dirty="0">
              <a:solidFill>
                <a:schemeClr val="tx1"/>
              </a:solidFill>
            </a:endParaRPr>
          </a:p>
          <a:p>
            <a:r>
              <a:rPr lang="en-US" sz="2300" dirty="0">
                <a:solidFill>
                  <a:schemeClr val="tx1"/>
                </a:solidFill>
              </a:rPr>
              <a:t>Demo </a:t>
            </a:r>
            <a:r>
              <a:rPr lang="en-US" sz="2300" dirty="0" err="1">
                <a:solidFill>
                  <a:schemeClr val="tx1"/>
                </a:solidFill>
              </a:rPr>
              <a:t>sản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phẩm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bật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tắt</a:t>
            </a:r>
            <a:r>
              <a:rPr lang="en-US" sz="2300" dirty="0">
                <a:solidFill>
                  <a:schemeClr val="tx1"/>
                </a:solidFill>
              </a:rPr>
              <a:t> LED </a:t>
            </a:r>
            <a:r>
              <a:rPr lang="en-US" sz="2300" dirty="0" err="1">
                <a:solidFill>
                  <a:schemeClr val="tx1"/>
                </a:solidFill>
              </a:rPr>
              <a:t>trên</a:t>
            </a:r>
            <a:r>
              <a:rPr lang="en-US" sz="2300" dirty="0">
                <a:solidFill>
                  <a:schemeClr val="tx1"/>
                </a:solidFill>
              </a:rPr>
              <a:t> ESP32</a:t>
            </a:r>
          </a:p>
          <a:p>
            <a:r>
              <a:rPr lang="en-US" sz="2300" dirty="0" err="1">
                <a:solidFill>
                  <a:schemeClr val="tx1"/>
                </a:solidFill>
              </a:rPr>
              <a:t>Làm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quen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với</a:t>
            </a:r>
            <a:r>
              <a:rPr lang="en-US" sz="2300" dirty="0">
                <a:solidFill>
                  <a:schemeClr val="tx1"/>
                </a:solidFill>
              </a:rPr>
              <a:t> Linux </a:t>
            </a:r>
            <a:r>
              <a:rPr lang="en-US" sz="2300" dirty="0" err="1">
                <a:solidFill>
                  <a:schemeClr val="tx1"/>
                </a:solidFill>
              </a:rPr>
              <a:t>và</a:t>
            </a:r>
            <a:r>
              <a:rPr lang="en-US" sz="2300" dirty="0">
                <a:solidFill>
                  <a:schemeClr val="tx1"/>
                </a:solidFill>
              </a:rPr>
              <a:t> RasberryPi5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23481-ADAB-BA36-9830-BE4A6EF531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C145C0-7269-421A-92E2-2F29E161ADE6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374A8-71B8-2D32-5889-BC56E0D585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/>
              <a:t>Nguyễn Văn Hướng@CICA-ITI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F8760-3E50-B334-AB93-CC785EAD25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2420832-60C8-2CA3-4F6F-0D6D0D897A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2765305"/>
              </p:ext>
            </p:extLst>
          </p:nvPr>
        </p:nvGraphicFramePr>
        <p:xfrm>
          <a:off x="6744557" y="976277"/>
          <a:ext cx="5232019" cy="12719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79FB4166-1646-1779-A691-75D1CAEC47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697798"/>
              </p:ext>
            </p:extLst>
          </p:nvPr>
        </p:nvGraphicFramePr>
        <p:xfrm>
          <a:off x="6881299" y="-84730"/>
          <a:ext cx="3989901" cy="3561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D622ED48-7C38-1E2E-290A-E5320F3FC716}"/>
              </a:ext>
            </a:extLst>
          </p:cNvPr>
          <p:cNvSpPr/>
          <p:nvPr/>
        </p:nvSpPr>
        <p:spPr>
          <a:xfrm>
            <a:off x="6624243" y="1470112"/>
            <a:ext cx="1106905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38916A12-976D-495A-6867-ED7D0BAEB8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727378"/>
              </p:ext>
            </p:extLst>
          </p:nvPr>
        </p:nvGraphicFramePr>
        <p:xfrm>
          <a:off x="8101643" y="531408"/>
          <a:ext cx="3989901" cy="3561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36085F98-A0EB-E806-1AE0-1D8B214CED8B}"/>
              </a:ext>
            </a:extLst>
          </p:cNvPr>
          <p:cNvSpPr/>
          <p:nvPr/>
        </p:nvSpPr>
        <p:spPr>
          <a:xfrm>
            <a:off x="7698394" y="1468476"/>
            <a:ext cx="1106905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E649B1-1DD3-8676-CA7E-CAF0F6DA6291}"/>
              </a:ext>
            </a:extLst>
          </p:cNvPr>
          <p:cNvSpPr/>
          <p:nvPr/>
        </p:nvSpPr>
        <p:spPr>
          <a:xfrm>
            <a:off x="6624243" y="2176668"/>
            <a:ext cx="1106905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0F2D9C-7BC8-1E19-06AB-33BB7DC30152}"/>
              </a:ext>
            </a:extLst>
          </p:cNvPr>
          <p:cNvSpPr/>
          <p:nvPr/>
        </p:nvSpPr>
        <p:spPr>
          <a:xfrm>
            <a:off x="7730384" y="2176668"/>
            <a:ext cx="1106905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E8E367-3D5A-876B-49B5-2199FBA8B01C}"/>
              </a:ext>
            </a:extLst>
          </p:cNvPr>
          <p:cNvSpPr/>
          <p:nvPr/>
        </p:nvSpPr>
        <p:spPr>
          <a:xfrm>
            <a:off x="8836525" y="2176667"/>
            <a:ext cx="1106905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FBCB48-9B82-C766-4857-4624B1EA25D8}"/>
              </a:ext>
            </a:extLst>
          </p:cNvPr>
          <p:cNvSpPr/>
          <p:nvPr/>
        </p:nvSpPr>
        <p:spPr>
          <a:xfrm>
            <a:off x="9943430" y="2176666"/>
            <a:ext cx="1106905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E9D5E7-C0BA-3AFA-1AFF-8B86F4BBC224}"/>
              </a:ext>
            </a:extLst>
          </p:cNvPr>
          <p:cNvSpPr/>
          <p:nvPr/>
        </p:nvSpPr>
        <p:spPr>
          <a:xfrm>
            <a:off x="6623479" y="2932149"/>
            <a:ext cx="1106905" cy="365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D495DB-C63F-975D-7307-F72F1598E476}"/>
              </a:ext>
            </a:extLst>
          </p:cNvPr>
          <p:cNvSpPr/>
          <p:nvPr/>
        </p:nvSpPr>
        <p:spPr>
          <a:xfrm>
            <a:off x="7729620" y="2932149"/>
            <a:ext cx="1106905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3BF1B8-4624-927F-8C18-247683957818}"/>
              </a:ext>
            </a:extLst>
          </p:cNvPr>
          <p:cNvSpPr/>
          <p:nvPr/>
        </p:nvSpPr>
        <p:spPr>
          <a:xfrm>
            <a:off x="8835761" y="2932148"/>
            <a:ext cx="1106905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6FE1B3-6F3D-7FD8-499C-EFFCB7E92108}"/>
              </a:ext>
            </a:extLst>
          </p:cNvPr>
          <p:cNvSpPr/>
          <p:nvPr/>
        </p:nvSpPr>
        <p:spPr>
          <a:xfrm>
            <a:off x="9942666" y="2932147"/>
            <a:ext cx="1106905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0F898F-062A-973A-608D-D46C5989B6CF}"/>
              </a:ext>
            </a:extLst>
          </p:cNvPr>
          <p:cNvSpPr txBox="1"/>
          <p:nvPr/>
        </p:nvSpPr>
        <p:spPr>
          <a:xfrm>
            <a:off x="6540692" y="2525759"/>
            <a:ext cx="1182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Tìm</a:t>
            </a:r>
            <a:r>
              <a:rPr lang="en-US" sz="1000" dirty="0"/>
              <a:t> </a:t>
            </a:r>
            <a:r>
              <a:rPr lang="en-US" sz="1000" dirty="0" err="1"/>
              <a:t>hiểu</a:t>
            </a:r>
            <a:r>
              <a:rPr lang="en-US" sz="1000" dirty="0"/>
              <a:t> </a:t>
            </a:r>
            <a:r>
              <a:rPr lang="en-US" sz="1000" dirty="0" err="1"/>
              <a:t>dự</a:t>
            </a:r>
            <a:r>
              <a:rPr lang="en-US" sz="1000" dirty="0"/>
              <a:t> </a:t>
            </a:r>
            <a:r>
              <a:rPr lang="en-US" sz="1000" dirty="0" err="1"/>
              <a:t>án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5FC71-EF7F-D393-A35E-C9C893C879B5}"/>
              </a:ext>
            </a:extLst>
          </p:cNvPr>
          <p:cNvSpPr txBox="1"/>
          <p:nvPr/>
        </p:nvSpPr>
        <p:spPr>
          <a:xfrm>
            <a:off x="7660391" y="2533775"/>
            <a:ext cx="1182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Xây</a:t>
            </a:r>
            <a:r>
              <a:rPr lang="en-US" sz="1000" dirty="0"/>
              <a:t> </a:t>
            </a:r>
            <a:r>
              <a:rPr lang="en-US" sz="1000" dirty="0" err="1"/>
              <a:t>dựng</a:t>
            </a:r>
            <a:r>
              <a:rPr lang="en-US" sz="1000" dirty="0"/>
              <a:t>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5D40C-CA9E-361D-CC6E-D54FAC87F264}"/>
              </a:ext>
            </a:extLst>
          </p:cNvPr>
          <p:cNvSpPr txBox="1"/>
          <p:nvPr/>
        </p:nvSpPr>
        <p:spPr>
          <a:xfrm>
            <a:off x="8804918" y="2533373"/>
            <a:ext cx="1182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Sản</a:t>
            </a:r>
            <a:r>
              <a:rPr lang="en-US" sz="1000" dirty="0"/>
              <a:t> </a:t>
            </a:r>
            <a:r>
              <a:rPr lang="en-US" sz="1000" dirty="0" err="1"/>
              <a:t>phẩm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1151A-A880-BF00-0C7B-44F209F4B9B4}"/>
              </a:ext>
            </a:extLst>
          </p:cNvPr>
          <p:cNvSpPr txBox="1"/>
          <p:nvPr/>
        </p:nvSpPr>
        <p:spPr>
          <a:xfrm>
            <a:off x="9904662" y="2532971"/>
            <a:ext cx="1182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Phân</a:t>
            </a:r>
            <a:r>
              <a:rPr lang="en-US" sz="1000" dirty="0"/>
              <a:t> </a:t>
            </a:r>
            <a:r>
              <a:rPr lang="en-US" sz="1000" dirty="0" err="1"/>
              <a:t>tích</a:t>
            </a:r>
            <a:r>
              <a:rPr lang="en-US" sz="1000" dirty="0"/>
              <a:t>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quả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7AFC39-BB92-C48F-EC2D-C7C0111A43D2}"/>
              </a:ext>
            </a:extLst>
          </p:cNvPr>
          <p:cNvSpPr txBox="1"/>
          <p:nvPr/>
        </p:nvSpPr>
        <p:spPr>
          <a:xfrm>
            <a:off x="6540692" y="3293492"/>
            <a:ext cx="11829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Làm</a:t>
            </a:r>
            <a:r>
              <a:rPr lang="en-US" sz="1000" dirty="0"/>
              <a:t> </a:t>
            </a:r>
            <a:r>
              <a:rPr lang="en-US" sz="1000" dirty="0" err="1"/>
              <a:t>quen</a:t>
            </a:r>
            <a:r>
              <a:rPr lang="en-US" sz="1000" dirty="0"/>
              <a:t> Linux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CFE474-BA8F-FB98-644B-B28A313FB201}"/>
              </a:ext>
            </a:extLst>
          </p:cNvPr>
          <p:cNvSpPr txBox="1"/>
          <p:nvPr/>
        </p:nvSpPr>
        <p:spPr>
          <a:xfrm>
            <a:off x="7682534" y="3295128"/>
            <a:ext cx="13596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Làm</a:t>
            </a:r>
            <a:r>
              <a:rPr lang="en-US" sz="1000" dirty="0"/>
              <a:t> </a:t>
            </a:r>
            <a:r>
              <a:rPr lang="en-US" sz="1000" dirty="0" err="1"/>
              <a:t>quen</a:t>
            </a:r>
            <a:r>
              <a:rPr lang="en-US" sz="1000" dirty="0"/>
              <a:t> </a:t>
            </a:r>
            <a:r>
              <a:rPr lang="en-US" sz="1000" dirty="0" err="1"/>
              <a:t>với</a:t>
            </a:r>
            <a:r>
              <a:rPr lang="en-US" sz="1000" dirty="0"/>
              <a:t> RP5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0A1B84-B1DF-4493-C432-5E46665BEBC9}"/>
              </a:ext>
            </a:extLst>
          </p:cNvPr>
          <p:cNvSpPr/>
          <p:nvPr/>
        </p:nvSpPr>
        <p:spPr>
          <a:xfrm>
            <a:off x="7395882" y="4563035"/>
            <a:ext cx="705761" cy="2922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CF6251-A8CD-E1A3-6E65-AABD96A94B9A}"/>
              </a:ext>
            </a:extLst>
          </p:cNvPr>
          <p:cNvSpPr/>
          <p:nvPr/>
        </p:nvSpPr>
        <p:spPr>
          <a:xfrm>
            <a:off x="7395882" y="4985942"/>
            <a:ext cx="705761" cy="2922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C25E83-A9DE-3216-30C7-1B9ED93689FA}"/>
              </a:ext>
            </a:extLst>
          </p:cNvPr>
          <p:cNvSpPr txBox="1"/>
          <p:nvPr/>
        </p:nvSpPr>
        <p:spPr>
          <a:xfrm>
            <a:off x="8166847" y="4547518"/>
            <a:ext cx="16495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603F39-3BE1-907C-BF4E-CA00817DB116}"/>
              </a:ext>
            </a:extLst>
          </p:cNvPr>
          <p:cNvSpPr txBox="1"/>
          <p:nvPr/>
        </p:nvSpPr>
        <p:spPr>
          <a:xfrm>
            <a:off x="8166847" y="4978184"/>
            <a:ext cx="186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: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B7F781-5E1F-70B0-6241-E7C61DED127F}"/>
              </a:ext>
            </a:extLst>
          </p:cNvPr>
          <p:cNvSpPr txBox="1"/>
          <p:nvPr/>
        </p:nvSpPr>
        <p:spPr>
          <a:xfrm>
            <a:off x="6556056" y="1806075"/>
            <a:ext cx="1027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SNN </a:t>
            </a:r>
            <a:r>
              <a:rPr lang="en-US" sz="1000" dirty="0" err="1"/>
              <a:t>kết</a:t>
            </a:r>
            <a:r>
              <a:rPr lang="en-US" sz="1000" dirty="0"/>
              <a:t> </a:t>
            </a:r>
            <a:r>
              <a:rPr lang="en-US" sz="1000" dirty="0" err="1"/>
              <a:t>hợp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CD9A9C-2876-6459-0277-453FEA2814D5}"/>
              </a:ext>
            </a:extLst>
          </p:cNvPr>
          <p:cNvSpPr txBox="1"/>
          <p:nvPr/>
        </p:nvSpPr>
        <p:spPr>
          <a:xfrm>
            <a:off x="7660391" y="1818405"/>
            <a:ext cx="1027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SNN </a:t>
            </a:r>
            <a:r>
              <a:rPr lang="en-US" sz="1000" dirty="0" err="1"/>
              <a:t>thuần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86398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FACD-90E3-DC9A-20F4-3E83B7D29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 Optimization Methods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A7065-C902-9BC4-53C5-572A72738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300" dirty="0" err="1"/>
              <a:t>Tối</a:t>
            </a:r>
            <a:r>
              <a:rPr lang="en-US" sz="2300" dirty="0"/>
              <a:t> </a:t>
            </a:r>
            <a:r>
              <a:rPr lang="en-US" sz="2300" dirty="0" err="1"/>
              <a:t>ưu</a:t>
            </a:r>
            <a:r>
              <a:rPr lang="en-US" sz="2300" dirty="0"/>
              <a:t> </a:t>
            </a:r>
            <a:r>
              <a:rPr lang="en-US" sz="2300" dirty="0" err="1"/>
              <a:t>hóa</a:t>
            </a:r>
            <a:r>
              <a:rPr lang="en-US" sz="2300" dirty="0"/>
              <a:t> SG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E0597-B7A9-4E2C-0297-7B1146E4213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en-US" sz="2300" dirty="0"/>
              <a:t>Surrogate Derivatives</a:t>
            </a:r>
          </a:p>
          <a:p>
            <a:r>
              <a:rPr lang="en-US" sz="2300" dirty="0"/>
              <a:t>Update </a:t>
            </a:r>
            <a:r>
              <a:rPr lang="en-US" sz="2300" dirty="0" err="1"/>
              <a:t>backprogapation</a:t>
            </a:r>
            <a:r>
              <a:rPr lang="en-US" sz="2300" dirty="0"/>
              <a:t> </a:t>
            </a:r>
          </a:p>
          <a:p>
            <a:pPr lvl="1"/>
            <a:r>
              <a:rPr lang="en-US" sz="2300" dirty="0"/>
              <a:t>Feedback Alignment</a:t>
            </a:r>
          </a:p>
          <a:p>
            <a:pPr lvl="1"/>
            <a:r>
              <a:rPr lang="en-US" sz="2300" dirty="0" err="1"/>
              <a:t>SuperSpike</a:t>
            </a:r>
            <a:endParaRPr lang="en-US" sz="23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88091-07CA-0A92-9531-3AB3BFA2E71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/>
          </a:bodyPr>
          <a:lstStyle/>
          <a:p>
            <a:r>
              <a:rPr lang="en-US" sz="2300" dirty="0"/>
              <a:t>Model Upgrades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E6EBFD-B739-C6F0-2EBA-FB4CED643ED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93367" y="1828802"/>
            <a:ext cx="5389034" cy="2873828"/>
          </a:xfrm>
        </p:spPr>
        <p:txBody>
          <a:bodyPr>
            <a:normAutofit/>
          </a:bodyPr>
          <a:lstStyle/>
          <a:p>
            <a:r>
              <a:rPr lang="en-US" sz="2300" dirty="0"/>
              <a:t>Hybrid Learning</a:t>
            </a:r>
          </a:p>
          <a:p>
            <a:r>
              <a:rPr lang="en-US" sz="2300" dirty="0"/>
              <a:t>Early-Decision ( Acc </a:t>
            </a:r>
            <a:r>
              <a:rPr lang="en-US" sz="2300" dirty="0" err="1"/>
              <a:t>đạt</a:t>
            </a:r>
            <a:r>
              <a:rPr lang="en-US" sz="2300" dirty="0"/>
              <a:t> 93,21% )</a:t>
            </a:r>
          </a:p>
          <a:p>
            <a:r>
              <a:rPr lang="en-US" sz="2300" dirty="0"/>
              <a:t>Deep Convolutional (75.2 %)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F00112-189A-4F9B-F475-FF6ECAE388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3FAEBB-98EC-45C5-A42C-AD35C51E48E5}" type="datetime1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F20F48-2126-CB49-799B-6A62F88BDD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/>
              <a:t>Nguyễn Văn Hướng@CICA-ITI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893DB-80E7-7FB5-2E4D-12EE14E89F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374804-01AA-9491-8A06-BD2A9BDFA0ED}"/>
              </a:ext>
            </a:extLst>
          </p:cNvPr>
          <p:cNvSpPr txBox="1"/>
          <p:nvPr/>
        </p:nvSpPr>
        <p:spPr>
          <a:xfrm>
            <a:off x="6544235" y="5237795"/>
            <a:ext cx="54854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/>
                </a:solidFill>
              </a:rPr>
              <a:t>1. ED-</a:t>
            </a:r>
            <a:r>
              <a:rPr lang="en-US" i="1" dirty="0" err="1">
                <a:solidFill>
                  <a:schemeClr val="bg2"/>
                </a:solidFill>
              </a:rPr>
              <a:t>sKWS</a:t>
            </a:r>
            <a:r>
              <a:rPr lang="en-US" i="1" dirty="0">
                <a:solidFill>
                  <a:schemeClr val="bg2"/>
                </a:solidFill>
              </a:rPr>
              <a:t>: Early-Decision Spiking Neural Networks for Rapid, and Energy-Efficient Keyword Spotting</a:t>
            </a:r>
          </a:p>
          <a:p>
            <a:r>
              <a:rPr lang="en-US" i="1" dirty="0">
                <a:solidFill>
                  <a:schemeClr val="bg2"/>
                </a:solidFill>
              </a:rPr>
              <a:t>2. Deep Convolutional Spiking Neural Networks for Keyword Spotting</a:t>
            </a:r>
          </a:p>
          <a:p>
            <a:r>
              <a:rPr lang="en-US" i="1" dirty="0">
                <a:solidFill>
                  <a:schemeClr val="bg2"/>
                </a:solidFill>
              </a:rPr>
              <a:t>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4FFF27-669F-A0AC-ACC1-67DCFC455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381" y="3102631"/>
            <a:ext cx="3622835" cy="21019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37704B-9009-21E2-34F8-5B89F0308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963" y="3930924"/>
            <a:ext cx="2770661" cy="178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4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FDDAA-8979-FF9A-FD10-F2BE49FC9E4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Past Training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A866E-4E28-A8F3-C615-583BAA66FE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7A7C0C8-2B74-45E5-BD6D-9448C969333F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2F7D1-8CE7-61DF-1A0B-1264CA7A0C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/>
              <a:t>Nguyễn Văn Hướng@CICA-ITI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AAF5D-2BF1-B1D7-A6EB-CC584C9C0E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5F8999-3967-9752-4C6C-5D8CE4BF9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02" y="1238137"/>
            <a:ext cx="3860998" cy="21908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7A0F2C-77CF-9988-0B5E-31A331899597}"/>
              </a:ext>
            </a:extLst>
          </p:cNvPr>
          <p:cNvSpPr txBox="1"/>
          <p:nvPr/>
        </p:nvSpPr>
        <p:spPr>
          <a:xfrm>
            <a:off x="609600" y="948107"/>
            <a:ext cx="164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4DCFFC-43EA-4C92-1C02-22C7D8FB0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46" y="3815949"/>
            <a:ext cx="3028293" cy="2636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A4E80F-4E22-78C5-8DE1-B80CD0F829E9}"/>
              </a:ext>
            </a:extLst>
          </p:cNvPr>
          <p:cNvSpPr txBox="1"/>
          <p:nvPr/>
        </p:nvSpPr>
        <p:spPr>
          <a:xfrm>
            <a:off x="900649" y="3508172"/>
            <a:ext cx="1409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LAYER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0F214CC-3EEA-8A2A-ED09-6BC60A1E3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600" y="1644987"/>
            <a:ext cx="3164754" cy="21709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E8E7F3-6318-8C52-E680-27365BD109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729" y="3873504"/>
            <a:ext cx="3630934" cy="18685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DD8C6F9-9921-630A-11E7-3BFA17E38EC5}"/>
              </a:ext>
            </a:extLst>
          </p:cNvPr>
          <p:cNvSpPr txBox="1"/>
          <p:nvPr/>
        </p:nvSpPr>
        <p:spPr>
          <a:xfrm>
            <a:off x="9694014" y="1306286"/>
            <a:ext cx="1888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LAYER + 2 CONV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4723E9C-DDEB-1A30-EFAF-1C3503AFB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418" y="1783788"/>
            <a:ext cx="2082907" cy="14478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2CDA37-85A8-D61C-E274-33A48FE29F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0998" y="4267585"/>
            <a:ext cx="3431240" cy="1474506"/>
          </a:xfrm>
          <a:prstGeom prst="rect">
            <a:avLst/>
          </a:prstGeom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43A57F9C-0151-E842-4F8A-E2D3875C9AD0}"/>
              </a:ext>
            </a:extLst>
          </p:cNvPr>
          <p:cNvSpPr/>
          <p:nvPr/>
        </p:nvSpPr>
        <p:spPr>
          <a:xfrm>
            <a:off x="8387729" y="2507725"/>
            <a:ext cx="240632" cy="201099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Left 22">
            <a:extLst>
              <a:ext uri="{FF2B5EF4-FFF2-40B4-BE49-F238E27FC236}">
                <a16:creationId xmlns:a16="http://schemas.microsoft.com/office/drawing/2014/main" id="{1C11C91F-865A-60CF-DD57-FDC32E9F31F7}"/>
              </a:ext>
            </a:extLst>
          </p:cNvPr>
          <p:cNvSpPr/>
          <p:nvPr/>
        </p:nvSpPr>
        <p:spPr>
          <a:xfrm>
            <a:off x="3362587" y="4900566"/>
            <a:ext cx="453763" cy="27500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F5104F-B07E-B9AC-A5F8-00169B610D71}"/>
              </a:ext>
            </a:extLst>
          </p:cNvPr>
          <p:cNvSpPr/>
          <p:nvPr/>
        </p:nvSpPr>
        <p:spPr>
          <a:xfrm>
            <a:off x="9508067" y="5278967"/>
            <a:ext cx="1411816" cy="116416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12E688-5995-5A6F-A148-5BF36E7877CD}"/>
              </a:ext>
            </a:extLst>
          </p:cNvPr>
          <p:cNvSpPr/>
          <p:nvPr/>
        </p:nvSpPr>
        <p:spPr>
          <a:xfrm>
            <a:off x="1980054" y="3895121"/>
            <a:ext cx="1337885" cy="255757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378C3A-F118-D3B6-5CBE-5DB80D787C78}"/>
              </a:ext>
            </a:extLst>
          </p:cNvPr>
          <p:cNvSpPr/>
          <p:nvPr/>
        </p:nvSpPr>
        <p:spPr>
          <a:xfrm>
            <a:off x="2648996" y="1238137"/>
            <a:ext cx="1514304" cy="219086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76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BE73-DF25-BA18-00AC-D5E33B01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diagram of CSNN KWS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00FED-1A65-037D-92F6-29181D7310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C145C0-7269-421A-92E2-2F29E161ADE6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A234D-F3DA-7921-3431-A1CD3B67B4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 dirty="0"/>
              <a:t>Nguyễn Văn Hướng@CICA-ITI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D2025-BFDF-7601-D5E6-27C2AAEA85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3E2DEA-E887-21F8-EB9D-ADA897A458E4}"/>
              </a:ext>
            </a:extLst>
          </p:cNvPr>
          <p:cNvSpPr/>
          <p:nvPr/>
        </p:nvSpPr>
        <p:spPr>
          <a:xfrm>
            <a:off x="835320" y="1141117"/>
            <a:ext cx="970960" cy="534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speech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6B314D-3AB4-6EC6-F11A-DB7F06C22CAF}"/>
              </a:ext>
            </a:extLst>
          </p:cNvPr>
          <p:cNvSpPr/>
          <p:nvPr/>
        </p:nvSpPr>
        <p:spPr>
          <a:xfrm>
            <a:off x="1004478" y="2178063"/>
            <a:ext cx="970960" cy="534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Recoder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C62D37-C1F5-DDCD-DE16-1B4697F27B58}"/>
              </a:ext>
            </a:extLst>
          </p:cNvPr>
          <p:cNvSpPr/>
          <p:nvPr/>
        </p:nvSpPr>
        <p:spPr>
          <a:xfrm>
            <a:off x="2298568" y="3019872"/>
            <a:ext cx="1182541" cy="7159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CB7D1F-9589-B4DA-8DAD-2786C7FA62B0}"/>
              </a:ext>
            </a:extLst>
          </p:cNvPr>
          <p:cNvSpPr/>
          <p:nvPr/>
        </p:nvSpPr>
        <p:spPr>
          <a:xfrm>
            <a:off x="4278197" y="2269971"/>
            <a:ext cx="1046375" cy="1020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CNN Feature Extract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59C555-122A-121D-A33D-E368825547BC}"/>
              </a:ext>
            </a:extLst>
          </p:cNvPr>
          <p:cNvSpPr/>
          <p:nvPr/>
        </p:nvSpPr>
        <p:spPr>
          <a:xfrm>
            <a:off x="5925794" y="2269971"/>
            <a:ext cx="1046375" cy="1020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Spike Encoding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84E53A6-42A5-406A-53C0-DA42CC7F2339}"/>
              </a:ext>
            </a:extLst>
          </p:cNvPr>
          <p:cNvSpPr/>
          <p:nvPr/>
        </p:nvSpPr>
        <p:spPr>
          <a:xfrm>
            <a:off x="7484881" y="2026601"/>
            <a:ext cx="1397787" cy="14712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SNN layer</a:t>
            </a:r>
          </a:p>
          <a:p>
            <a:pPr algn="ctr"/>
            <a:r>
              <a:rPr lang="en-US" dirty="0"/>
              <a:t>RLIF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262C4B-3076-2EC7-CC96-3581B9F7B4E7}"/>
              </a:ext>
            </a:extLst>
          </p:cNvPr>
          <p:cNvSpPr/>
          <p:nvPr/>
        </p:nvSpPr>
        <p:spPr>
          <a:xfrm>
            <a:off x="9525089" y="2297190"/>
            <a:ext cx="1136978" cy="8505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Class Prediction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ACDBE7-2CC0-F2AE-239B-5A1999243C38}"/>
              </a:ext>
            </a:extLst>
          </p:cNvPr>
          <p:cNvCxnSpPr/>
          <p:nvPr/>
        </p:nvCxnSpPr>
        <p:spPr>
          <a:xfrm>
            <a:off x="1394643" y="1772712"/>
            <a:ext cx="0" cy="339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02DBF13-4504-7AF3-C2E2-7EB0795EC49A}"/>
              </a:ext>
            </a:extLst>
          </p:cNvPr>
          <p:cNvCxnSpPr>
            <a:cxnSpLocks/>
          </p:cNvCxnSpPr>
          <p:nvPr/>
        </p:nvCxnSpPr>
        <p:spPr>
          <a:xfrm>
            <a:off x="1410353" y="2941636"/>
            <a:ext cx="664036" cy="5712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9DD51A9-F913-2E05-B591-54DAA68375DA}"/>
              </a:ext>
            </a:extLst>
          </p:cNvPr>
          <p:cNvCxnSpPr/>
          <p:nvPr/>
        </p:nvCxnSpPr>
        <p:spPr>
          <a:xfrm flipV="1">
            <a:off x="3584804" y="2941636"/>
            <a:ext cx="584462" cy="55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E90408-5E06-108B-C44E-6AF99B00C31D}"/>
              </a:ext>
            </a:extLst>
          </p:cNvPr>
          <p:cNvCxnSpPr/>
          <p:nvPr/>
        </p:nvCxnSpPr>
        <p:spPr>
          <a:xfrm>
            <a:off x="5451311" y="2847368"/>
            <a:ext cx="377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1BAE38F-5846-70AF-0489-F00627A10E6C}"/>
              </a:ext>
            </a:extLst>
          </p:cNvPr>
          <p:cNvCxnSpPr/>
          <p:nvPr/>
        </p:nvCxnSpPr>
        <p:spPr>
          <a:xfrm>
            <a:off x="7072721" y="2847368"/>
            <a:ext cx="339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BF64B9-BCB4-03E2-402C-54539B3D339E}"/>
              </a:ext>
            </a:extLst>
          </p:cNvPr>
          <p:cNvCxnSpPr/>
          <p:nvPr/>
        </p:nvCxnSpPr>
        <p:spPr>
          <a:xfrm>
            <a:off x="9042923" y="2722458"/>
            <a:ext cx="3524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645F098-EF3C-5188-3328-98743BA0958A}"/>
              </a:ext>
            </a:extLst>
          </p:cNvPr>
          <p:cNvSpPr txBox="1"/>
          <p:nvPr/>
        </p:nvSpPr>
        <p:spPr>
          <a:xfrm>
            <a:off x="1548614" y="1866980"/>
            <a:ext cx="1263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PCM signal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6EB6EA3-0B11-46CA-2D00-7BA8937CB778}"/>
              </a:ext>
            </a:extLst>
          </p:cNvPr>
          <p:cNvCxnSpPr/>
          <p:nvPr/>
        </p:nvCxnSpPr>
        <p:spPr>
          <a:xfrm>
            <a:off x="653068" y="1848127"/>
            <a:ext cx="3101418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ECCEF42-BD24-9C08-F0E3-2603D2F98F1E}"/>
              </a:ext>
            </a:extLst>
          </p:cNvPr>
          <p:cNvCxnSpPr>
            <a:cxnSpLocks/>
          </p:cNvCxnSpPr>
          <p:nvPr/>
        </p:nvCxnSpPr>
        <p:spPr>
          <a:xfrm>
            <a:off x="3754486" y="1866980"/>
            <a:ext cx="0" cy="22718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14BB181-D33B-CE99-AA3C-AFEE3C619EB6}"/>
              </a:ext>
            </a:extLst>
          </p:cNvPr>
          <p:cNvCxnSpPr/>
          <p:nvPr/>
        </p:nvCxnSpPr>
        <p:spPr>
          <a:xfrm flipH="1">
            <a:off x="653068" y="4138840"/>
            <a:ext cx="3101418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562B27E-C67F-33F7-DFEE-CBCFC46F70D7}"/>
              </a:ext>
            </a:extLst>
          </p:cNvPr>
          <p:cNvCxnSpPr>
            <a:cxnSpLocks/>
          </p:cNvCxnSpPr>
          <p:nvPr/>
        </p:nvCxnSpPr>
        <p:spPr>
          <a:xfrm>
            <a:off x="653068" y="1866980"/>
            <a:ext cx="0" cy="22718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DF80FD-CB7C-C354-11B6-C5B308108B62}"/>
              </a:ext>
            </a:extLst>
          </p:cNvPr>
          <p:cNvCxnSpPr/>
          <p:nvPr/>
        </p:nvCxnSpPr>
        <p:spPr>
          <a:xfrm>
            <a:off x="3994346" y="1676085"/>
            <a:ext cx="0" cy="282097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AC139D5-98AE-B06D-1541-D2654F9CDECB}"/>
              </a:ext>
            </a:extLst>
          </p:cNvPr>
          <p:cNvCxnSpPr/>
          <p:nvPr/>
        </p:nvCxnSpPr>
        <p:spPr>
          <a:xfrm>
            <a:off x="3994346" y="1676085"/>
            <a:ext cx="504857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17B1628-DBEA-1C94-5BB6-F4C06097683B}"/>
              </a:ext>
            </a:extLst>
          </p:cNvPr>
          <p:cNvCxnSpPr/>
          <p:nvPr/>
        </p:nvCxnSpPr>
        <p:spPr>
          <a:xfrm>
            <a:off x="9042923" y="1676085"/>
            <a:ext cx="0" cy="282097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DD9036-85D9-E25F-47FD-857C0331661E}"/>
              </a:ext>
            </a:extLst>
          </p:cNvPr>
          <p:cNvCxnSpPr/>
          <p:nvPr/>
        </p:nvCxnSpPr>
        <p:spPr>
          <a:xfrm>
            <a:off x="3994346" y="4497058"/>
            <a:ext cx="512399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5263544A-A4E9-7B9B-DDC0-B93E99D9D5D8}"/>
              </a:ext>
            </a:extLst>
          </p:cNvPr>
          <p:cNvSpPr txBox="1"/>
          <p:nvPr/>
        </p:nvSpPr>
        <p:spPr>
          <a:xfrm>
            <a:off x="576944" y="4163321"/>
            <a:ext cx="3083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Collection and Audio Processing Area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EA93A6-F3C0-9C38-C824-67CC91C9662D}"/>
              </a:ext>
            </a:extLst>
          </p:cNvPr>
          <p:cNvSpPr txBox="1"/>
          <p:nvPr/>
        </p:nvSpPr>
        <p:spPr>
          <a:xfrm>
            <a:off x="3994345" y="4189281"/>
            <a:ext cx="27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CSNN 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187ED-139B-6494-25B2-55291668F568}"/>
              </a:ext>
            </a:extLst>
          </p:cNvPr>
          <p:cNvSpPr txBox="1"/>
          <p:nvPr/>
        </p:nvSpPr>
        <p:spPr>
          <a:xfrm>
            <a:off x="6096001" y="5077590"/>
            <a:ext cx="51880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/>
                </a:solidFill>
              </a:rPr>
              <a:t>1. Deep Convolutional Spiking Neural Networks for Keyword Spotting</a:t>
            </a:r>
          </a:p>
          <a:p>
            <a:r>
              <a:rPr lang="en-US" i="1" dirty="0">
                <a:solidFill>
                  <a:schemeClr val="bg2"/>
                </a:solidFill>
              </a:rPr>
              <a:t>2. Towards efficient keyword spotting using spike-based time difference encoders</a:t>
            </a:r>
          </a:p>
          <a:p>
            <a:r>
              <a:rPr lang="en-US" i="1" dirty="0">
                <a:solidFill>
                  <a:schemeClr val="bg2"/>
                </a:solidFill>
              </a:rPr>
              <a:t>3. Deep Residual Spiking Neural Network for Keyword Spotting in Low-Resource Settings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254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2E479-B211-9AF8-D72D-E9FAAFD95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6AD9-7FFF-7150-3FDA-5E224042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FAB19-F8C2-14FB-7FFB-0B07FDD1B7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C145C0-7269-421A-92E2-2F29E161ADE6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ABC8-CC7F-664D-A166-010EBDBC1D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/>
              <a:t>Nguyễn Văn Hướng@CICA-ITI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CEE19-3096-2DA3-B083-8D23C967B3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78E37C-6930-42CD-6BA2-CDF0FF4E8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205" y="3975729"/>
            <a:ext cx="4720790" cy="2478726"/>
          </a:xfrm>
          <a:prstGeom prst="rect">
            <a:avLst/>
          </a:prstGeom>
        </p:spPr>
      </p:pic>
      <p:pic>
        <p:nvPicPr>
          <p:cNvPr id="3" name="Picture 2" descr="Multi-Label Emotion Recognition of Korean Speech Data Using Deep Fusion Models">
            <a:extLst>
              <a:ext uri="{FF2B5EF4-FFF2-40B4-BE49-F238E27FC236}">
                <a16:creationId xmlns:a16="http://schemas.microsoft.com/office/drawing/2014/main" id="{F15CC2BE-5994-B778-17B4-7EF76985C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802" y="1614733"/>
            <a:ext cx="4138282" cy="234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88A1A2-0036-6232-8BBA-ED313E6E2299}"/>
              </a:ext>
            </a:extLst>
          </p:cNvPr>
          <p:cNvSpPr txBox="1"/>
          <p:nvPr/>
        </p:nvSpPr>
        <p:spPr>
          <a:xfrm>
            <a:off x="609600" y="1397675"/>
            <a:ext cx="53877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Bản chất của âm thanh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1800" dirty="0"/>
              <a:t>Âm thanh là sóng cơ học lan truyền trong môi trường.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1800" dirty="0"/>
              <a:t>Tín hiệu âm thanh thay đổi liên tục theo thời gian.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1800" dirty="0"/>
              <a:t>Thông tin của một từ khóa được phân bố trên nhiều khung thời gian liên tiếp.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1800" dirty="0"/>
              <a:t>Sau khi tiền xử lý, tín hiệu thường được biểu diễn dưới dạng Mel-Spectrogram hoặc MFCC.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53C5A5-2971-8F65-9B5E-963B85295D09}"/>
              </a:ext>
            </a:extLst>
          </p:cNvPr>
          <p:cNvSpPr txBox="1"/>
          <p:nvPr/>
        </p:nvSpPr>
        <p:spPr>
          <a:xfrm>
            <a:off x="609600" y="3956102"/>
            <a:ext cx="5387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/>
              <a:t>Khả</a:t>
            </a:r>
            <a:r>
              <a:rPr lang="en-US" sz="1800" b="1" dirty="0"/>
              <a:t> </a:t>
            </a:r>
            <a:r>
              <a:rPr lang="en-US" sz="1800" b="1" dirty="0" err="1"/>
              <a:t>năng</a:t>
            </a:r>
            <a:r>
              <a:rPr lang="en-US" sz="1800" b="1" dirty="0"/>
              <a:t> </a:t>
            </a:r>
            <a:r>
              <a:rPr lang="en-US" sz="1800" b="1" dirty="0" err="1"/>
              <a:t>xử</a:t>
            </a:r>
            <a:r>
              <a:rPr lang="en-US" sz="1800" b="1" dirty="0"/>
              <a:t> </a:t>
            </a:r>
            <a:r>
              <a:rPr lang="en-US" sz="1800" b="1" dirty="0" err="1"/>
              <a:t>lí</a:t>
            </a:r>
            <a:r>
              <a:rPr lang="en-US" sz="1800" b="1" dirty="0"/>
              <a:t> </a:t>
            </a:r>
            <a:r>
              <a:rPr lang="en-US" sz="1800" b="1" dirty="0" err="1"/>
              <a:t>âm</a:t>
            </a:r>
            <a:r>
              <a:rPr lang="en-US" sz="1800" b="1" dirty="0"/>
              <a:t> </a:t>
            </a:r>
            <a:r>
              <a:rPr lang="en-US" sz="1800" b="1" dirty="0" err="1"/>
              <a:t>thanh</a:t>
            </a:r>
            <a:r>
              <a:rPr lang="en-US" sz="1800" b="1" dirty="0"/>
              <a:t> </a:t>
            </a:r>
            <a:r>
              <a:rPr lang="en-US" sz="1800" b="1" dirty="0" err="1"/>
              <a:t>của</a:t>
            </a:r>
            <a:r>
              <a:rPr lang="en-US" sz="1800" b="1" dirty="0"/>
              <a:t> CNN</a:t>
            </a: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Trích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xuất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đặc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trưng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cục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bộ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rất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tốt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Khả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năng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học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các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mẫu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phổ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âm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thanh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hiệu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quả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Accuracy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cao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trên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Google Speech Commands. 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128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41F1-F536-769B-F215-0144BC24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cs typeface="Times New Roman" panose="02020603050405020304" pitchFamily="18" charset="0"/>
              </a:rPr>
              <a:t>CSNN layer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49DDA-A854-C27C-82AB-4597C437D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4752" y="920495"/>
            <a:ext cx="5386917" cy="639762"/>
          </a:xfrm>
        </p:spPr>
        <p:txBody>
          <a:bodyPr/>
          <a:lstStyle/>
          <a:p>
            <a:r>
              <a:rPr lang="en-US" dirty="0">
                <a:latin typeface="+mj-lt"/>
                <a:cs typeface="Times New Roman" panose="02020603050405020304" pitchFamily="18" charset="0"/>
              </a:rPr>
              <a:t>CNN Feature Extractor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E48F6-008F-8B29-8FA8-2FA05AA7255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026400" y="926036"/>
            <a:ext cx="5389034" cy="639762"/>
          </a:xfrm>
        </p:spPr>
        <p:txBody>
          <a:bodyPr/>
          <a:lstStyle/>
          <a:p>
            <a:r>
              <a:rPr lang="en-US" dirty="0">
                <a:latin typeface="+mj-lt"/>
                <a:cs typeface="Times New Roman" panose="02020603050405020304" pitchFamily="18" charset="0"/>
              </a:rPr>
              <a:t>SNN RLIF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54A29D-8BB7-DAA6-FFFA-152CBB3663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53FAEBB-98EC-45C5-A42C-AD35C51E48E5}" type="datetime1">
              <a:rPr lang="en-US" smtClean="0">
                <a:latin typeface="+mj-lt"/>
                <a:cs typeface="Times New Roman" panose="02020603050405020304" pitchFamily="18" charset="0"/>
              </a:rPr>
              <a:t>6/26/2026</a:t>
            </a:fld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8F581E-FD93-DBC7-ACD0-63E903FA21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>
                <a:latin typeface="+mj-lt"/>
                <a:cs typeface="Times New Roman" panose="02020603050405020304" pitchFamily="18" charset="0"/>
              </a:rPr>
              <a:t>Nguyễn Văn Hướng@CICA-ITI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EB6D2-2756-DE0A-1194-D009E010C5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+mj-lt"/>
                <a:cs typeface="Times New Roman" panose="02020603050405020304" pitchFamily="18" charset="0"/>
              </a:rPr>
              <a:t>7</a:t>
            </a:fld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15BA6E-B8F0-CBD9-BCF7-E6CE79CCBD72}"/>
              </a:ext>
            </a:extLst>
          </p:cNvPr>
          <p:cNvSpPr/>
          <p:nvPr/>
        </p:nvSpPr>
        <p:spPr>
          <a:xfrm>
            <a:off x="943811" y="1767120"/>
            <a:ext cx="2622884" cy="5015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Mel Spectrogram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4C0D71-E965-78BB-3987-4135E32D50F6}"/>
              </a:ext>
            </a:extLst>
          </p:cNvPr>
          <p:cNvSpPr/>
          <p:nvPr/>
        </p:nvSpPr>
        <p:spPr>
          <a:xfrm>
            <a:off x="466280" y="2534233"/>
            <a:ext cx="3604125" cy="33843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Conv2D ( 1 </a:t>
            </a:r>
            <a:r>
              <a:rPr lang="en-US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 12, 3x3, pad = 1)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1CFA0B-99C3-C181-388C-05314FD01CDC}"/>
              </a:ext>
            </a:extLst>
          </p:cNvPr>
          <p:cNvSpPr/>
          <p:nvPr/>
        </p:nvSpPr>
        <p:spPr>
          <a:xfrm>
            <a:off x="715211" y="3016362"/>
            <a:ext cx="1524000" cy="3651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Batch Norm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581272-7046-4F8A-CEF5-CE9405DF08FC}"/>
              </a:ext>
            </a:extLst>
          </p:cNvPr>
          <p:cNvSpPr/>
          <p:nvPr/>
        </p:nvSpPr>
        <p:spPr>
          <a:xfrm>
            <a:off x="2366211" y="3016362"/>
            <a:ext cx="1524000" cy="3651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+mj-lt"/>
                <a:cs typeface="Times New Roman" panose="02020603050405020304" pitchFamily="18" charset="0"/>
              </a:rPr>
              <a:t>ReLU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E31924-2EC8-1523-BD49-4D4530A0F37C}"/>
              </a:ext>
            </a:extLst>
          </p:cNvPr>
          <p:cNvSpPr/>
          <p:nvPr/>
        </p:nvSpPr>
        <p:spPr>
          <a:xfrm>
            <a:off x="943811" y="3496546"/>
            <a:ext cx="2844800" cy="3651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+mj-lt"/>
                <a:cs typeface="Times New Roman" panose="02020603050405020304" pitchFamily="18" charset="0"/>
              </a:rPr>
              <a:t>MaxPool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2x2 </a:t>
            </a:r>
            <a:r>
              <a:rPr lang="en-US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 32x20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D44E996-407A-9B54-2B52-00975E6FC0DF}"/>
              </a:ext>
            </a:extLst>
          </p:cNvPr>
          <p:cNvSpPr/>
          <p:nvPr/>
        </p:nvSpPr>
        <p:spPr>
          <a:xfrm>
            <a:off x="581081" y="4380032"/>
            <a:ext cx="3514279" cy="338430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Conv2D ( 12 </a:t>
            </a:r>
            <a:r>
              <a:rPr lang="en-US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 24, 3x3, pad = 1)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9F8687D-88C2-995C-B3F1-03A18247A2C9}"/>
              </a:ext>
            </a:extLst>
          </p:cNvPr>
          <p:cNvSpPr/>
          <p:nvPr/>
        </p:nvSpPr>
        <p:spPr>
          <a:xfrm>
            <a:off x="789265" y="4842682"/>
            <a:ext cx="1524000" cy="36512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Batch Norm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0137A6A-0912-83EC-259D-5B194BD866D9}"/>
              </a:ext>
            </a:extLst>
          </p:cNvPr>
          <p:cNvSpPr/>
          <p:nvPr/>
        </p:nvSpPr>
        <p:spPr>
          <a:xfrm>
            <a:off x="2450154" y="4842681"/>
            <a:ext cx="1524000" cy="3651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+mj-lt"/>
                <a:cs typeface="Times New Roman" panose="02020603050405020304" pitchFamily="18" charset="0"/>
              </a:rPr>
              <a:t>ReLU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208643-9CD0-8326-9A9E-AC5F1C9FCE6F}"/>
              </a:ext>
            </a:extLst>
          </p:cNvPr>
          <p:cNvSpPr/>
          <p:nvPr/>
        </p:nvSpPr>
        <p:spPr>
          <a:xfrm>
            <a:off x="1027754" y="5339583"/>
            <a:ext cx="2844800" cy="3651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+mj-lt"/>
                <a:cs typeface="Times New Roman" panose="02020603050405020304" pitchFamily="18" charset="0"/>
              </a:rPr>
              <a:t>MaxPool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2x2 </a:t>
            </a:r>
            <a:r>
              <a:rPr lang="en-US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 16x10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D8BA3C-1B73-9D40-AC5B-08EB541E217B}"/>
              </a:ext>
            </a:extLst>
          </p:cNvPr>
          <p:cNvSpPr/>
          <p:nvPr/>
        </p:nvSpPr>
        <p:spPr>
          <a:xfrm>
            <a:off x="7603177" y="1852080"/>
            <a:ext cx="3128211" cy="63976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FC1(3840 </a:t>
            </a:r>
            <a:r>
              <a:rPr lang="en-US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 96)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DF937F6-8010-653C-A4B4-3002839AF5BC}"/>
              </a:ext>
            </a:extLst>
          </p:cNvPr>
          <p:cNvSpPr/>
          <p:nvPr/>
        </p:nvSpPr>
        <p:spPr>
          <a:xfrm>
            <a:off x="7236882" y="2902996"/>
            <a:ext cx="3860799" cy="43946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U₁[t] = </a:t>
            </a:r>
            <a:r>
              <a:rPr lang="el-GR" dirty="0">
                <a:latin typeface="+mj-lt"/>
                <a:cs typeface="Times New Roman" panose="02020603050405020304" pitchFamily="18" charset="0"/>
              </a:rPr>
              <a:t>β₁·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U₁[t-1] + FC1(x) + V·S₁[t-1]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F9D193-AA26-03D5-9034-F7964EEDA3DB}"/>
              </a:ext>
            </a:extLst>
          </p:cNvPr>
          <p:cNvSpPr/>
          <p:nvPr/>
        </p:nvSpPr>
        <p:spPr>
          <a:xfrm>
            <a:off x="7744881" y="3653788"/>
            <a:ext cx="2844800" cy="36512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Spike S₁[t] → next step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B85A5A-B9A5-C525-BB62-EA214423C41B}"/>
              </a:ext>
            </a:extLst>
          </p:cNvPr>
          <p:cNvSpPr/>
          <p:nvPr/>
        </p:nvSpPr>
        <p:spPr>
          <a:xfrm>
            <a:off x="8121597" y="4248234"/>
            <a:ext cx="2231744" cy="283120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FC2 (96 → 5)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B382B73-A4C3-F0EB-A67E-DC8527DB666F}"/>
              </a:ext>
            </a:extLst>
          </p:cNvPr>
          <p:cNvSpPr/>
          <p:nvPr/>
        </p:nvSpPr>
        <p:spPr>
          <a:xfrm>
            <a:off x="7315199" y="4968580"/>
            <a:ext cx="3782481" cy="43946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+mj-lt"/>
                <a:cs typeface="Times New Roman" panose="02020603050405020304" pitchFamily="18" charset="0"/>
              </a:rPr>
              <a:t>U₂[t] = </a:t>
            </a:r>
            <a:r>
              <a:rPr lang="el-GR" dirty="0">
                <a:latin typeface="+mj-lt"/>
                <a:cs typeface="Times New Roman" panose="02020603050405020304" pitchFamily="18" charset="0"/>
              </a:rPr>
              <a:t>β₂·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U₂[t-1] + FC2(S₁) + V₂⊙S₂[t-1]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27175A-2AC5-ED4B-8673-F7BCFAA3F836}"/>
              </a:ext>
            </a:extLst>
          </p:cNvPr>
          <p:cNvSpPr/>
          <p:nvPr/>
        </p:nvSpPr>
        <p:spPr>
          <a:xfrm>
            <a:off x="5005137" y="3200923"/>
            <a:ext cx="1285266" cy="109646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+mj-lt"/>
                <a:cs typeface="Times New Roman" panose="02020603050405020304" pitchFamily="18" charset="0"/>
              </a:rPr>
              <a:t>Flattern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+mj-lt"/>
                <a:cs typeface="Times New Roman" panose="02020603050405020304" pitchFamily="18" charset="0"/>
                <a:sym typeface="Wingdings" panose="05000000000000000000" pitchFamily="2" charset="2"/>
              </a:rPr>
              <a:t> 3840 features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1FED1C-D73A-D96C-0706-7F7A485AA246}"/>
              </a:ext>
            </a:extLst>
          </p:cNvPr>
          <p:cNvSpPr/>
          <p:nvPr/>
        </p:nvSpPr>
        <p:spPr>
          <a:xfrm>
            <a:off x="7744881" y="5646140"/>
            <a:ext cx="3128211" cy="53417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latin typeface="+mj-lt"/>
                <a:cs typeface="Times New Roman" panose="02020603050405020304" pitchFamily="18" charset="0"/>
              </a:rPr>
              <a:t>mean</a:t>
            </a:r>
            <a:r>
              <a:rPr lang="fr-FR" dirty="0">
                <a:latin typeface="+mj-lt"/>
                <a:cs typeface="Times New Roman" panose="02020603050405020304" pitchFamily="18" charset="0"/>
              </a:rPr>
              <a:t>(U₂[0..T]) → </a:t>
            </a:r>
            <a:r>
              <a:rPr lang="fr-FR" dirty="0" err="1">
                <a:latin typeface="+mj-lt"/>
                <a:cs typeface="Times New Roman" panose="02020603050405020304" pitchFamily="18" charset="0"/>
              </a:rPr>
              <a:t>logits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1606EF-DC46-41BD-E010-87D72DDC337B}"/>
              </a:ext>
            </a:extLst>
          </p:cNvPr>
          <p:cNvSpPr/>
          <p:nvPr/>
        </p:nvSpPr>
        <p:spPr>
          <a:xfrm>
            <a:off x="0" y="2348001"/>
            <a:ext cx="4588824" cy="13454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5B1CCA3-1838-442F-4D0C-6633386359DE}"/>
              </a:ext>
            </a:extLst>
          </p:cNvPr>
          <p:cNvCxnSpPr/>
          <p:nvPr/>
        </p:nvCxnSpPr>
        <p:spPr>
          <a:xfrm>
            <a:off x="251012" y="2348001"/>
            <a:ext cx="4177553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F927B90-4302-0515-EE28-850E3A734C43}"/>
              </a:ext>
            </a:extLst>
          </p:cNvPr>
          <p:cNvCxnSpPr/>
          <p:nvPr/>
        </p:nvCxnSpPr>
        <p:spPr>
          <a:xfrm>
            <a:off x="277434" y="4140942"/>
            <a:ext cx="4177553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8AED6A2-A4EE-8E7D-01C8-306529B0698A}"/>
              </a:ext>
            </a:extLst>
          </p:cNvPr>
          <p:cNvCxnSpPr>
            <a:cxnSpLocks/>
          </p:cNvCxnSpPr>
          <p:nvPr/>
        </p:nvCxnSpPr>
        <p:spPr>
          <a:xfrm>
            <a:off x="6695539" y="1639789"/>
            <a:ext cx="488686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FFCEDF-6742-8F7E-7D6B-314708A0E89D}"/>
              </a:ext>
            </a:extLst>
          </p:cNvPr>
          <p:cNvCxnSpPr>
            <a:cxnSpLocks/>
          </p:cNvCxnSpPr>
          <p:nvPr/>
        </p:nvCxnSpPr>
        <p:spPr>
          <a:xfrm>
            <a:off x="6695539" y="5494822"/>
            <a:ext cx="4886861" cy="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470994-DED2-26BB-14AE-25C9E08BCA0A}"/>
              </a:ext>
            </a:extLst>
          </p:cNvPr>
          <p:cNvCxnSpPr/>
          <p:nvPr/>
        </p:nvCxnSpPr>
        <p:spPr>
          <a:xfrm>
            <a:off x="251012" y="2348001"/>
            <a:ext cx="0" cy="130578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3B4E2E8-16B8-A760-74EA-2EB149D3BB90}"/>
              </a:ext>
            </a:extLst>
          </p:cNvPr>
          <p:cNvCxnSpPr>
            <a:cxnSpLocks/>
          </p:cNvCxnSpPr>
          <p:nvPr/>
        </p:nvCxnSpPr>
        <p:spPr>
          <a:xfrm>
            <a:off x="6695539" y="1639789"/>
            <a:ext cx="0" cy="3872753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D1F994E-EEB0-75DA-244C-54E1C86D6BB7}"/>
              </a:ext>
            </a:extLst>
          </p:cNvPr>
          <p:cNvCxnSpPr/>
          <p:nvPr/>
        </p:nvCxnSpPr>
        <p:spPr>
          <a:xfrm>
            <a:off x="4437058" y="4189787"/>
            <a:ext cx="0" cy="130578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60B63D2-A293-95D6-232B-42AAE28567B4}"/>
              </a:ext>
            </a:extLst>
          </p:cNvPr>
          <p:cNvCxnSpPr/>
          <p:nvPr/>
        </p:nvCxnSpPr>
        <p:spPr>
          <a:xfrm>
            <a:off x="277434" y="4189787"/>
            <a:ext cx="0" cy="130578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B32AB85-D653-CF1F-3378-C673CB95C6A3}"/>
              </a:ext>
            </a:extLst>
          </p:cNvPr>
          <p:cNvCxnSpPr/>
          <p:nvPr/>
        </p:nvCxnSpPr>
        <p:spPr>
          <a:xfrm>
            <a:off x="4428565" y="2363468"/>
            <a:ext cx="0" cy="1305787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ECCE90A-4216-392C-A251-C6E7CD1DB637}"/>
              </a:ext>
            </a:extLst>
          </p:cNvPr>
          <p:cNvCxnSpPr>
            <a:cxnSpLocks/>
          </p:cNvCxnSpPr>
          <p:nvPr/>
        </p:nvCxnSpPr>
        <p:spPr>
          <a:xfrm>
            <a:off x="11599233" y="1639789"/>
            <a:ext cx="0" cy="3872753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B618FF7-8DD5-F588-1E55-DEAEE466D76D}"/>
              </a:ext>
            </a:extLst>
          </p:cNvPr>
          <p:cNvCxnSpPr>
            <a:cxnSpLocks/>
          </p:cNvCxnSpPr>
          <p:nvPr/>
        </p:nvCxnSpPr>
        <p:spPr>
          <a:xfrm>
            <a:off x="277434" y="3653788"/>
            <a:ext cx="666376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510203E-2C17-5B01-A6CB-7015C7716FD2}"/>
              </a:ext>
            </a:extLst>
          </p:cNvPr>
          <p:cNvCxnSpPr>
            <a:cxnSpLocks/>
          </p:cNvCxnSpPr>
          <p:nvPr/>
        </p:nvCxnSpPr>
        <p:spPr>
          <a:xfrm>
            <a:off x="3788611" y="3669255"/>
            <a:ext cx="66637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6EFD45A-6889-23AA-992D-F81E37D81029}"/>
              </a:ext>
            </a:extLst>
          </p:cNvPr>
          <p:cNvCxnSpPr>
            <a:cxnSpLocks/>
          </p:cNvCxnSpPr>
          <p:nvPr/>
        </p:nvCxnSpPr>
        <p:spPr>
          <a:xfrm>
            <a:off x="3832412" y="5494822"/>
            <a:ext cx="666376" cy="0"/>
          </a:xfrm>
          <a:prstGeom prst="line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4CE1835-346C-2B9D-6B45-D990E8B9D1E8}"/>
              </a:ext>
            </a:extLst>
          </p:cNvPr>
          <p:cNvCxnSpPr>
            <a:cxnSpLocks/>
          </p:cNvCxnSpPr>
          <p:nvPr/>
        </p:nvCxnSpPr>
        <p:spPr>
          <a:xfrm>
            <a:off x="286399" y="5494822"/>
            <a:ext cx="666376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222B8DA-5C98-3670-1135-1A325196758F}"/>
              </a:ext>
            </a:extLst>
          </p:cNvPr>
          <p:cNvCxnSpPr/>
          <p:nvPr/>
        </p:nvCxnSpPr>
        <p:spPr>
          <a:xfrm>
            <a:off x="7116880" y="4140942"/>
            <a:ext cx="417755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FEDE89F-03EC-2650-A2E0-5186222BAE31}"/>
              </a:ext>
            </a:extLst>
          </p:cNvPr>
          <p:cNvCxnSpPr/>
          <p:nvPr/>
        </p:nvCxnSpPr>
        <p:spPr>
          <a:xfrm>
            <a:off x="7116880" y="2688660"/>
            <a:ext cx="417755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C37B274-2665-9713-5C1D-C4DFCBACFC65}"/>
              </a:ext>
            </a:extLst>
          </p:cNvPr>
          <p:cNvCxnSpPr>
            <a:cxnSpLocks/>
          </p:cNvCxnSpPr>
          <p:nvPr/>
        </p:nvCxnSpPr>
        <p:spPr>
          <a:xfrm>
            <a:off x="11294433" y="2677756"/>
            <a:ext cx="0" cy="146318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EF08014-E4FD-76E4-36C2-BE5934B78DF3}"/>
              </a:ext>
            </a:extLst>
          </p:cNvPr>
          <p:cNvCxnSpPr>
            <a:cxnSpLocks/>
          </p:cNvCxnSpPr>
          <p:nvPr/>
        </p:nvCxnSpPr>
        <p:spPr>
          <a:xfrm>
            <a:off x="7116880" y="2703174"/>
            <a:ext cx="0" cy="14377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88D1306-9250-2F01-F598-F8010A40D755}"/>
              </a:ext>
            </a:extLst>
          </p:cNvPr>
          <p:cNvCxnSpPr>
            <a:cxnSpLocks/>
          </p:cNvCxnSpPr>
          <p:nvPr/>
        </p:nvCxnSpPr>
        <p:spPr>
          <a:xfrm>
            <a:off x="2268342" y="2364890"/>
            <a:ext cx="18853" cy="143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8E03C4-4657-7DD2-F541-93CEF1E0CCDE}"/>
              </a:ext>
            </a:extLst>
          </p:cNvPr>
          <p:cNvCxnSpPr>
            <a:cxnSpLocks/>
          </p:cNvCxnSpPr>
          <p:nvPr/>
        </p:nvCxnSpPr>
        <p:spPr>
          <a:xfrm>
            <a:off x="2303838" y="3899647"/>
            <a:ext cx="0" cy="312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5E0E1D8-DEA5-1CD5-4753-6C9C9A5EFE7C}"/>
              </a:ext>
            </a:extLst>
          </p:cNvPr>
          <p:cNvCxnSpPr>
            <a:cxnSpLocks/>
          </p:cNvCxnSpPr>
          <p:nvPr/>
        </p:nvCxnSpPr>
        <p:spPr>
          <a:xfrm>
            <a:off x="9206389" y="2549052"/>
            <a:ext cx="31080" cy="284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FF25870-E563-A025-1EC7-55118904C185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206389" y="4608234"/>
            <a:ext cx="51" cy="36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76EEBAE-B347-09AE-2316-264F1B4AF30A}"/>
              </a:ext>
            </a:extLst>
          </p:cNvPr>
          <p:cNvCxnSpPr>
            <a:cxnSpLocks/>
          </p:cNvCxnSpPr>
          <p:nvPr/>
        </p:nvCxnSpPr>
        <p:spPr>
          <a:xfrm flipH="1">
            <a:off x="9167281" y="4011641"/>
            <a:ext cx="7296" cy="1759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FD2453C-A3FA-0343-5B4B-06F599439365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9237469" y="5426569"/>
            <a:ext cx="71518" cy="2195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244B26C-8C4E-C30A-8954-46F6768A478D}"/>
              </a:ext>
            </a:extLst>
          </p:cNvPr>
          <p:cNvSpPr txBox="1"/>
          <p:nvPr/>
        </p:nvSpPr>
        <p:spPr>
          <a:xfrm>
            <a:off x="226120" y="2347910"/>
            <a:ext cx="12690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j-lt"/>
                <a:cs typeface="Times New Roman" panose="02020603050405020304" pitchFamily="18" charset="0"/>
              </a:rPr>
              <a:t>Conv Block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C1B5F0-8974-6230-1918-70533176926F}"/>
              </a:ext>
            </a:extLst>
          </p:cNvPr>
          <p:cNvSpPr txBox="1"/>
          <p:nvPr/>
        </p:nvSpPr>
        <p:spPr>
          <a:xfrm>
            <a:off x="217318" y="4132591"/>
            <a:ext cx="12690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j-lt"/>
                <a:cs typeface="Times New Roman" panose="02020603050405020304" pitchFamily="18" charset="0"/>
              </a:rPr>
              <a:t>Conv Block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A8C9BE-382A-D297-A1C6-2A4A841E7927}"/>
              </a:ext>
            </a:extLst>
          </p:cNvPr>
          <p:cNvSpPr txBox="1"/>
          <p:nvPr/>
        </p:nvSpPr>
        <p:spPr>
          <a:xfrm>
            <a:off x="1551265" y="2080665"/>
            <a:ext cx="23374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j-lt"/>
                <a:cs typeface="Times New Roman" panose="02020603050405020304" pitchFamily="18" charset="0"/>
              </a:rPr>
              <a:t>64 × 40 | log + normalize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3164500-45EB-41C4-1EBB-8A3E28703F85}"/>
              </a:ext>
            </a:extLst>
          </p:cNvPr>
          <p:cNvSpPr txBox="1"/>
          <p:nvPr/>
        </p:nvSpPr>
        <p:spPr>
          <a:xfrm>
            <a:off x="4899963" y="4272310"/>
            <a:ext cx="23374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+mj-lt"/>
                <a:cs typeface="Times New Roman" panose="02020603050405020304" pitchFamily="18" charset="0"/>
              </a:rPr>
              <a:t>normalize [0, 1] → firing rate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2C48F9C-6104-C6AA-D861-B0CF8184523C}"/>
              </a:ext>
            </a:extLst>
          </p:cNvPr>
          <p:cNvSpPr txBox="1"/>
          <p:nvPr/>
        </p:nvSpPr>
        <p:spPr>
          <a:xfrm>
            <a:off x="8121597" y="1662134"/>
            <a:ext cx="6705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800" dirty="0">
                <a:latin typeface="+mj-lt"/>
                <a:cs typeface="Times New Roman" panose="02020603050405020304" pitchFamily="18" charset="0"/>
              </a:rPr>
              <a:t>feat_buf truyền vào SNN × T = 64 bước</a:t>
            </a:r>
            <a:endParaRPr lang="en-US" sz="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4B03FAA-A165-2124-E962-444C9A1F9E10}"/>
              </a:ext>
            </a:extLst>
          </p:cNvPr>
          <p:cNvSpPr txBox="1"/>
          <p:nvPr/>
        </p:nvSpPr>
        <p:spPr>
          <a:xfrm>
            <a:off x="6680668" y="1659102"/>
            <a:ext cx="12690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j-lt"/>
                <a:cs typeface="Times New Roman" panose="02020603050405020304" pitchFamily="18" charset="0"/>
              </a:rPr>
              <a:t>Repeat T times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324F0B-C074-123D-DBB3-D33FFBF4ACF7}"/>
              </a:ext>
            </a:extLst>
          </p:cNvPr>
          <p:cNvSpPr txBox="1"/>
          <p:nvPr/>
        </p:nvSpPr>
        <p:spPr>
          <a:xfrm>
            <a:off x="7116880" y="2710700"/>
            <a:ext cx="12690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j-lt"/>
                <a:cs typeface="Times New Roman" panose="02020603050405020304" pitchFamily="18" charset="0"/>
              </a:rPr>
              <a:t>RLIF 1 – current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FB3C7458-0FE9-BDBB-BC54-13D6A7A78F52}"/>
              </a:ext>
            </a:extLst>
          </p:cNvPr>
          <p:cNvCxnSpPr>
            <a:cxnSpLocks/>
          </p:cNvCxnSpPr>
          <p:nvPr/>
        </p:nvCxnSpPr>
        <p:spPr>
          <a:xfrm rot="5400000">
            <a:off x="10794592" y="3309957"/>
            <a:ext cx="668188" cy="5111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CD3CE6A-3E33-953D-2C76-CFF1F40817E8}"/>
              </a:ext>
            </a:extLst>
          </p:cNvPr>
          <p:cNvSpPr txBox="1"/>
          <p:nvPr/>
        </p:nvSpPr>
        <p:spPr>
          <a:xfrm>
            <a:off x="10839866" y="3538372"/>
            <a:ext cx="12690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+mj-lt"/>
                <a:cs typeface="Times New Roman" panose="02020603050405020304" pitchFamily="18" charset="0"/>
              </a:rPr>
              <a:t>V . S[t – 1]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19F3D9-6ACD-F726-0F7B-6A7FC26CB4A6}"/>
              </a:ext>
            </a:extLst>
          </p:cNvPr>
          <p:cNvSpPr txBox="1"/>
          <p:nvPr/>
        </p:nvSpPr>
        <p:spPr>
          <a:xfrm>
            <a:off x="11128686" y="5318773"/>
            <a:ext cx="1269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+mj-lt"/>
                <a:cs typeface="Times New Roman" panose="02020603050405020304" pitchFamily="18" charset="0"/>
              </a:rPr>
              <a:t>V₂⊙S₂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C9C44BD4-B9AC-C240-0352-3945779EFD2D}"/>
              </a:ext>
            </a:extLst>
          </p:cNvPr>
          <p:cNvCxnSpPr>
            <a:cxnSpLocks/>
          </p:cNvCxnSpPr>
          <p:nvPr/>
        </p:nvCxnSpPr>
        <p:spPr>
          <a:xfrm rot="5400000">
            <a:off x="10688778" y="5442851"/>
            <a:ext cx="743651" cy="23457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318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0CC63-0BB4-9BB5-10FC-1525DF8D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315D2-92C4-52AD-C020-DB45A49B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RLIF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8353B-35FC-23AB-78E9-342D22CFF1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C145C0-7269-421A-92E2-2F29E161ADE6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997B1-7DAE-B151-BECB-EB4ADFD723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/>
              <a:t>Nguyễn Văn Hướng@CICA-ITI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637B-B148-B28A-0F81-81BDB8AE15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E037E-1609-0C9A-CABB-967AA10EBBA5}"/>
              </a:ext>
            </a:extLst>
          </p:cNvPr>
          <p:cNvSpPr txBox="1"/>
          <p:nvPr/>
        </p:nvSpPr>
        <p:spPr>
          <a:xfrm>
            <a:off x="5871883" y="5636696"/>
            <a:ext cx="6320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snnTorch</a:t>
            </a:r>
            <a:r>
              <a:rPr lang="en-US" i="1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Documentation — </a:t>
            </a:r>
            <a:r>
              <a:rPr lang="en-US" i="1" dirty="0" err="1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snntorch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0.9.4 documentation</a:t>
            </a:r>
            <a:endParaRPr lang="en-US" i="1" dirty="0">
              <a:solidFill>
                <a:srgbClr val="0000FF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i="1" dirty="0" err="1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snn.RLeaky</a:t>
            </a:r>
            <a:r>
              <a:rPr lang="en-US" i="1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— </a:t>
            </a:r>
            <a:r>
              <a:rPr lang="en-US" i="1" dirty="0" err="1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snntorch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0.9.4 documentation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AA4DDA-12BB-01EA-B85F-A61C226DE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425" y="3659255"/>
            <a:ext cx="3324849" cy="36512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7C0C7D-7A93-3FB0-83DC-D99626561930}"/>
              </a:ext>
            </a:extLst>
          </p:cNvPr>
          <p:cNvCxnSpPr>
            <a:cxnSpLocks/>
          </p:cNvCxnSpPr>
          <p:nvPr/>
        </p:nvCxnSpPr>
        <p:spPr>
          <a:xfrm>
            <a:off x="8248321" y="4165679"/>
            <a:ext cx="0" cy="358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1EC5A95-E331-A017-0AEE-CBE25B54F646}"/>
              </a:ext>
            </a:extLst>
          </p:cNvPr>
          <p:cNvSpPr txBox="1"/>
          <p:nvPr/>
        </p:nvSpPr>
        <p:spPr>
          <a:xfrm>
            <a:off x="544384" y="1565450"/>
            <a:ext cx="43174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Ý </a:t>
            </a:r>
            <a:r>
              <a:rPr lang="en-US" sz="1800" b="1" dirty="0" err="1"/>
              <a:t>tưởng</a:t>
            </a:r>
            <a:r>
              <a:rPr lang="en-US" sz="1800" b="1" dirty="0"/>
              <a:t> </a:t>
            </a:r>
            <a:r>
              <a:rPr lang="en-US" sz="1800" b="1" dirty="0" err="1"/>
              <a:t>dẫn</a:t>
            </a:r>
            <a:r>
              <a:rPr lang="en-US" sz="1800" b="1" dirty="0"/>
              <a:t> </a:t>
            </a:r>
            <a:r>
              <a:rPr lang="en-US" sz="1800" b="1" dirty="0" err="1"/>
              <a:t>đến</a:t>
            </a:r>
            <a:r>
              <a:rPr lang="en-US" sz="1800" b="1" dirty="0"/>
              <a:t> </a:t>
            </a:r>
            <a:r>
              <a:rPr lang="en-US" sz="1800" b="1" dirty="0" err="1"/>
              <a:t>thuật</a:t>
            </a:r>
            <a:r>
              <a:rPr lang="en-US" sz="1800" b="1" dirty="0"/>
              <a:t> </a:t>
            </a:r>
            <a:r>
              <a:rPr lang="en-US" sz="1800" b="1" dirty="0" err="1"/>
              <a:t>toán</a:t>
            </a:r>
            <a:endParaRPr lang="en-US" sz="1800" b="1" dirty="0"/>
          </a:p>
          <a:p>
            <a:pPr marL="285750" indent="-285750">
              <a:buFontTx/>
              <a:buChar char="-"/>
            </a:pPr>
            <a:r>
              <a:rPr lang="en-US" sz="1800" dirty="0" err="1"/>
              <a:t>Âm</a:t>
            </a:r>
            <a:r>
              <a:rPr lang="en-US" sz="1800" dirty="0"/>
              <a:t> </a:t>
            </a:r>
            <a:r>
              <a:rPr lang="en-US" sz="1800" dirty="0" err="1"/>
              <a:t>thanh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tín</a:t>
            </a:r>
            <a:r>
              <a:rPr lang="en-US" sz="1800" dirty="0"/>
              <a:t> </a:t>
            </a:r>
            <a:r>
              <a:rPr lang="en-US" sz="1800" dirty="0" err="1"/>
              <a:t>hiệu</a:t>
            </a:r>
            <a:r>
              <a:rPr lang="en-US" sz="1800" dirty="0"/>
              <a:t> </a:t>
            </a:r>
            <a:r>
              <a:rPr lang="en-US" sz="1800" dirty="0" err="1"/>
              <a:t>tuần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endParaRPr lang="en-US" sz="1800" dirty="0"/>
          </a:p>
          <a:p>
            <a:pPr marL="285750" indent="-285750">
              <a:buFontTx/>
              <a:buChar char="-"/>
            </a:pPr>
            <a:r>
              <a:rPr lang="en-US" sz="1800" dirty="0"/>
              <a:t>LIF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bộ</a:t>
            </a:r>
            <a:r>
              <a:rPr lang="en-US" sz="1800" dirty="0"/>
              <a:t> </a:t>
            </a:r>
            <a:r>
              <a:rPr lang="en-US" sz="1800" dirty="0" err="1"/>
              <a:t>nhớ</a:t>
            </a:r>
            <a:r>
              <a:rPr lang="en-US" sz="1800" dirty="0"/>
              <a:t> </a:t>
            </a:r>
            <a:r>
              <a:rPr lang="en-US" sz="1800" dirty="0" err="1"/>
              <a:t>giữa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bước</a:t>
            </a:r>
            <a:endParaRPr lang="en-US" sz="1800" dirty="0"/>
          </a:p>
          <a:p>
            <a:pPr marL="285750" indent="-285750">
              <a:buFontTx/>
              <a:buChar char="-"/>
            </a:pPr>
            <a:r>
              <a:rPr lang="en-US" sz="1800" dirty="0"/>
              <a:t>RLIF </a:t>
            </a:r>
            <a:r>
              <a:rPr lang="en-US" sz="1800" dirty="0" err="1"/>
              <a:t>có</a:t>
            </a:r>
            <a:r>
              <a:rPr lang="en-US" sz="1800" dirty="0"/>
              <a:t> them </a:t>
            </a:r>
            <a:r>
              <a:rPr lang="en-US" sz="1800" dirty="0" err="1"/>
              <a:t>đường</a:t>
            </a:r>
            <a:r>
              <a:rPr lang="en-US" sz="1800" dirty="0"/>
              <a:t> </a:t>
            </a:r>
            <a:r>
              <a:rPr lang="en-US" sz="1800" dirty="0" err="1"/>
              <a:t>hồi</a:t>
            </a:r>
            <a:r>
              <a:rPr lang="en-US" sz="1800" dirty="0"/>
              <a:t> </a:t>
            </a:r>
            <a:r>
              <a:rPr lang="en-US" sz="1800" dirty="0" err="1"/>
              <a:t>tiếp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12F11-AF16-AC56-E1D2-54DF8D03426D}"/>
                  </a:ext>
                </a:extLst>
              </p:cNvPr>
              <p:cNvSpPr txBox="1"/>
              <p:nvPr/>
            </p:nvSpPr>
            <p:spPr>
              <a:xfrm>
                <a:off x="544384" y="2997063"/>
                <a:ext cx="431747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1" dirty="0"/>
                  <a:t>Phương </a:t>
                </a:r>
                <a:r>
                  <a:rPr lang="en-US" sz="1800" b="1" dirty="0" err="1"/>
                  <a:t>trình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thuật</a:t>
                </a:r>
                <a:r>
                  <a:rPr lang="en-US" sz="1800" b="1" dirty="0"/>
                  <a:t> </a:t>
                </a:r>
                <a:r>
                  <a:rPr lang="en-US" sz="1800" b="1" dirty="0" err="1"/>
                  <a:t>toán</a:t>
                </a:r>
                <a:r>
                  <a:rPr lang="en-US" sz="1800" b="1" dirty="0"/>
                  <a:t> RLIF : </a:t>
                </a:r>
              </a:p>
              <a:p>
                <a:endParaRPr lang="en-US" sz="1800" b="1" dirty="0"/>
              </a:p>
              <a:p>
                <a:r>
                  <a:rPr lang="en-US" sz="1800" dirty="0"/>
                  <a:t>	</a:t>
                </a:r>
                <a:r>
                  <a:rPr lang="pl-PL" sz="1800" dirty="0"/>
                  <a:t>U[t]=βU[t−1]+I[t]+V(S[t−1]) </a:t>
                </a:r>
                <a:r>
                  <a:rPr lang="en-US" sz="1800" dirty="0"/>
                  <a:t>: </a:t>
                </a:r>
              </a:p>
              <a:p>
                <a:endParaRPr lang="en-US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l-GR" sz="1800" dirty="0"/>
                  <a:t>β</a:t>
                </a:r>
                <a:r>
                  <a:rPr lang="vi-VN" sz="1800" dirty="0"/>
                  <a:t>U[t−1]: thông tin quá khứ</a:t>
                </a:r>
                <a:r>
                  <a:rPr lang="en-US" sz="1800" dirty="0"/>
                  <a:t>, </a:t>
                </a:r>
                <a:r>
                  <a:rPr lang="el-GR" sz="1800" dirty="0"/>
                  <a:t>β</a:t>
                </a:r>
                <a:r>
                  <a:rPr lang="en-US" sz="1800" dirty="0"/>
                  <a:t> </a:t>
                </a:r>
                <a:r>
                  <a:rPr lang="en-US" sz="1800" dirty="0" err="1"/>
                  <a:t>Hệ</a:t>
                </a:r>
                <a:r>
                  <a:rPr lang="en-US" sz="1800" dirty="0"/>
                  <a:t> </a:t>
                </a:r>
                <a:r>
                  <a:rPr lang="en-US" sz="1800" dirty="0" err="1"/>
                  <a:t>số</a:t>
                </a:r>
                <a:r>
                  <a:rPr lang="en-US" sz="1800" dirty="0"/>
                  <a:t> </a:t>
                </a:r>
                <a:r>
                  <a:rPr lang="en-US" sz="1800" dirty="0" err="1"/>
                  <a:t>rò</a:t>
                </a:r>
                <a:endParaRPr lang="vi-VN" sz="1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sz="1800" dirty="0"/>
                  <a:t>: </a:t>
                </a:r>
                <a:r>
                  <a:rPr lang="vi-VN" sz="1800" dirty="0"/>
                  <a:t>đầu vào hiện tại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vi-VN" sz="18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18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</m:oMath>
                </a14:m>
                <a:r>
                  <a:rPr lang="ar-AE" sz="1800" dirty="0"/>
                  <a:t>: </a:t>
                </a:r>
                <a:r>
                  <a:rPr lang="vi-VN" sz="1800" dirty="0"/>
                  <a:t>tín hiệu hồi tiếp từ spike trước </a:t>
                </a:r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12F11-AF16-AC56-E1D2-54DF8D034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84" y="2997063"/>
                <a:ext cx="4317476" cy="2862322"/>
              </a:xfrm>
              <a:prstGeom prst="rect">
                <a:avLst/>
              </a:prstGeom>
              <a:blipFill>
                <a:blip r:embed="rId5"/>
                <a:stretch>
                  <a:fillRect l="-1128" t="-1279" r="-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7DD9FA-B71E-1A01-611A-7FBB99062EB4}"/>
              </a:ext>
            </a:extLst>
          </p:cNvPr>
          <p:cNvSpPr/>
          <p:nvPr/>
        </p:nvSpPr>
        <p:spPr>
          <a:xfrm>
            <a:off x="5871882" y="1927632"/>
            <a:ext cx="1392518" cy="36512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FC1(x[1])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642924-510C-98C5-E582-954D478201B8}"/>
              </a:ext>
            </a:extLst>
          </p:cNvPr>
          <p:cNvSpPr/>
          <p:nvPr/>
        </p:nvSpPr>
        <p:spPr>
          <a:xfrm>
            <a:off x="8477624" y="1934538"/>
            <a:ext cx="1392518" cy="36512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RLIF neuron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9F586B-5FD8-82F7-377B-61EB2ACBB32C}"/>
              </a:ext>
            </a:extLst>
          </p:cNvPr>
          <p:cNvSpPr/>
          <p:nvPr/>
        </p:nvSpPr>
        <p:spPr>
          <a:xfrm>
            <a:off x="8477624" y="2780233"/>
            <a:ext cx="1392518" cy="36512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Spike S[t]</a:t>
            </a:r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F59FD7BC-0265-953E-CFDD-CF53E703007B}"/>
              </a:ext>
            </a:extLst>
          </p:cNvPr>
          <p:cNvSpPr/>
          <p:nvPr/>
        </p:nvSpPr>
        <p:spPr>
          <a:xfrm>
            <a:off x="7623080" y="1927632"/>
            <a:ext cx="430306" cy="36512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5A9BC5-C01B-0770-B128-0D6743AA738A}"/>
              </a:ext>
            </a:extLst>
          </p:cNvPr>
          <p:cNvCxnSpPr>
            <a:cxnSpLocks/>
            <a:stCxn id="7" idx="3"/>
            <a:endCxn id="10" idx="2"/>
          </p:cNvCxnSpPr>
          <p:nvPr/>
        </p:nvCxnSpPr>
        <p:spPr>
          <a:xfrm>
            <a:off x="7264400" y="2110195"/>
            <a:ext cx="358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56F3792-4B02-48B6-EE83-042D9EC0D964}"/>
              </a:ext>
            </a:extLst>
          </p:cNvPr>
          <p:cNvCxnSpPr>
            <a:stCxn id="10" idx="6"/>
            <a:endCxn id="8" idx="1"/>
          </p:cNvCxnSpPr>
          <p:nvPr/>
        </p:nvCxnSpPr>
        <p:spPr>
          <a:xfrm>
            <a:off x="8053386" y="2110195"/>
            <a:ext cx="424238" cy="6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3EC6389-CCED-DB4D-3809-D5F7791AD47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9173883" y="2299663"/>
            <a:ext cx="0" cy="480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39A6CDA-AF33-D107-C83D-091E0A951D85}"/>
              </a:ext>
            </a:extLst>
          </p:cNvPr>
          <p:cNvCxnSpPr>
            <a:stCxn id="7" idx="2"/>
            <a:endCxn id="9" idx="2"/>
          </p:cNvCxnSpPr>
          <p:nvPr/>
        </p:nvCxnSpPr>
        <p:spPr>
          <a:xfrm rot="16200000" flipH="1">
            <a:off x="7444712" y="1416186"/>
            <a:ext cx="852601" cy="2605742"/>
          </a:xfrm>
          <a:prstGeom prst="bentConnector3">
            <a:avLst>
              <a:gd name="adj1" fmla="val 1268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539C280-FF50-E8F9-B274-4A396DA1D764}"/>
              </a:ext>
            </a:extLst>
          </p:cNvPr>
          <p:cNvSpPr txBox="1"/>
          <p:nvPr/>
        </p:nvSpPr>
        <p:spPr>
          <a:xfrm>
            <a:off x="6635378" y="3185638"/>
            <a:ext cx="26804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S[t – 1] quay </a:t>
            </a:r>
            <a:r>
              <a:rPr lang="en-US" sz="800" dirty="0" err="1"/>
              <a:t>lại</a:t>
            </a:r>
            <a:r>
              <a:rPr lang="en-US" sz="800" dirty="0"/>
              <a:t> </a:t>
            </a:r>
            <a:r>
              <a:rPr lang="en-US" sz="800" dirty="0" err="1"/>
              <a:t>nhân</a:t>
            </a:r>
            <a:r>
              <a:rPr lang="en-US" sz="800" dirty="0"/>
              <a:t> </a:t>
            </a:r>
            <a:r>
              <a:rPr lang="en-US" sz="800" dirty="0" err="1"/>
              <a:t>với</a:t>
            </a:r>
            <a:r>
              <a:rPr lang="en-US" sz="800" dirty="0"/>
              <a:t> V, </a:t>
            </a:r>
            <a:r>
              <a:rPr lang="en-US" sz="800" dirty="0" err="1"/>
              <a:t>cộng</a:t>
            </a:r>
            <a:r>
              <a:rPr lang="en-US" sz="800" dirty="0"/>
              <a:t> </a:t>
            </a:r>
            <a:r>
              <a:rPr lang="en-US" sz="800" dirty="0" err="1"/>
              <a:t>vào</a:t>
            </a:r>
            <a:r>
              <a:rPr lang="en-US" sz="800" dirty="0"/>
              <a:t> </a:t>
            </a:r>
            <a:r>
              <a:rPr lang="en-US" sz="800" dirty="0" err="1"/>
              <a:t>bươc</a:t>
            </a:r>
            <a:r>
              <a:rPr lang="en-US" sz="800" dirty="0"/>
              <a:t> t + 1</a:t>
            </a:r>
          </a:p>
        </p:txBody>
      </p:sp>
      <p:sp>
        <p:nvSpPr>
          <p:cNvPr id="28" name="Cross 27">
            <a:extLst>
              <a:ext uri="{FF2B5EF4-FFF2-40B4-BE49-F238E27FC236}">
                <a16:creationId xmlns:a16="http://schemas.microsoft.com/office/drawing/2014/main" id="{CEB9991D-C40C-0BC5-1916-C8222459CCAE}"/>
              </a:ext>
            </a:extLst>
          </p:cNvPr>
          <p:cNvSpPr/>
          <p:nvPr/>
        </p:nvSpPr>
        <p:spPr>
          <a:xfrm>
            <a:off x="7739437" y="2022880"/>
            <a:ext cx="209083" cy="203343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E1A73A5-DEB9-096F-FBEA-F6B0EC313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8408" y="4608495"/>
            <a:ext cx="4358431" cy="102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76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17D4-4E86-4393-8E21-7E3B38F66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EFA90-4DC6-A800-37E0-28BA0964A88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Training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2CFAA-D81F-CAA6-6283-6F348AD87D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7A7C0C8-2B74-45E5-BD6D-9448C969333F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1EAC3-F817-E28E-E30E-1A5D666E359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 dirty="0"/>
              <a:t>Nguyễn Văn Hướng@CICA-ITI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3A234-3A00-BA50-6140-A17EFC64C5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3121F0-F210-9344-72DB-B40A6B7F7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02" y="1238137"/>
            <a:ext cx="3860998" cy="21908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5B86F9-E7A3-D3BB-4AB0-17E80C785A09}"/>
              </a:ext>
            </a:extLst>
          </p:cNvPr>
          <p:cNvSpPr txBox="1"/>
          <p:nvPr/>
        </p:nvSpPr>
        <p:spPr>
          <a:xfrm>
            <a:off x="609600" y="948107"/>
            <a:ext cx="1646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LAYER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F60571-C1A7-ADBC-97B4-62059F15A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46" y="3815949"/>
            <a:ext cx="3028293" cy="2636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2FC03C-0E81-7CC5-01C3-588DF29A78AC}"/>
              </a:ext>
            </a:extLst>
          </p:cNvPr>
          <p:cNvSpPr txBox="1"/>
          <p:nvPr/>
        </p:nvSpPr>
        <p:spPr>
          <a:xfrm>
            <a:off x="900649" y="3508172"/>
            <a:ext cx="1409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LAYER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EAD7AA-08CC-DDE5-50A4-D8757077D24D}"/>
              </a:ext>
            </a:extLst>
          </p:cNvPr>
          <p:cNvSpPr txBox="1"/>
          <p:nvPr/>
        </p:nvSpPr>
        <p:spPr>
          <a:xfrm>
            <a:off x="8814014" y="1358656"/>
            <a:ext cx="1888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LAYER + 2 CONV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40FAAE-CDA3-2ECF-754A-EBBB6D094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014" y="1720749"/>
            <a:ext cx="2082907" cy="14478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E762BF0-61A7-867D-A0EE-54A2E93E8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998" y="4267585"/>
            <a:ext cx="3431240" cy="1474506"/>
          </a:xfrm>
          <a:prstGeom prst="rect">
            <a:avLst/>
          </a:prstGeom>
        </p:spPr>
      </p:pic>
      <p:sp>
        <p:nvSpPr>
          <p:cNvPr id="23" name="Arrow: Left 22">
            <a:extLst>
              <a:ext uri="{FF2B5EF4-FFF2-40B4-BE49-F238E27FC236}">
                <a16:creationId xmlns:a16="http://schemas.microsoft.com/office/drawing/2014/main" id="{54D48EBB-086A-95F5-33AE-A4A401BE7EF1}"/>
              </a:ext>
            </a:extLst>
          </p:cNvPr>
          <p:cNvSpPr/>
          <p:nvPr/>
        </p:nvSpPr>
        <p:spPr>
          <a:xfrm>
            <a:off x="3362587" y="4900566"/>
            <a:ext cx="453763" cy="27500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2CD9E3-67BB-5A75-91A2-66AB41A7AFBB}"/>
              </a:ext>
            </a:extLst>
          </p:cNvPr>
          <p:cNvSpPr/>
          <p:nvPr/>
        </p:nvSpPr>
        <p:spPr>
          <a:xfrm>
            <a:off x="9508067" y="5278967"/>
            <a:ext cx="1411816" cy="116416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FD474D-EDF1-CE91-0366-FA881AB9E5DF}"/>
              </a:ext>
            </a:extLst>
          </p:cNvPr>
          <p:cNvSpPr/>
          <p:nvPr/>
        </p:nvSpPr>
        <p:spPr>
          <a:xfrm>
            <a:off x="1980054" y="3895121"/>
            <a:ext cx="1337885" cy="255757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5DEFCD-7DD1-FF13-39EA-CD94252A1488}"/>
              </a:ext>
            </a:extLst>
          </p:cNvPr>
          <p:cNvSpPr/>
          <p:nvPr/>
        </p:nvSpPr>
        <p:spPr>
          <a:xfrm>
            <a:off x="2648996" y="1238137"/>
            <a:ext cx="1514304" cy="219086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16309B2-D905-CA55-FF06-77699E35D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297" y="3662060"/>
            <a:ext cx="3836554" cy="2639978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59E83312-1798-8675-719B-27694DF3B420}"/>
              </a:ext>
            </a:extLst>
          </p:cNvPr>
          <p:cNvSpPr/>
          <p:nvPr/>
        </p:nvSpPr>
        <p:spPr>
          <a:xfrm>
            <a:off x="9688535" y="3285819"/>
            <a:ext cx="352425" cy="37608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526D16-54D4-3C5F-CF1E-66FA4E46541D}"/>
              </a:ext>
            </a:extLst>
          </p:cNvPr>
          <p:cNvSpPr/>
          <p:nvPr/>
        </p:nvSpPr>
        <p:spPr>
          <a:xfrm>
            <a:off x="9486955" y="4075562"/>
            <a:ext cx="1590619" cy="166653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AA799-9E4D-30BC-48E6-B3FB0D7F8397}"/>
              </a:ext>
            </a:extLst>
          </p:cNvPr>
          <p:cNvSpPr txBox="1"/>
          <p:nvPr/>
        </p:nvSpPr>
        <p:spPr>
          <a:xfrm>
            <a:off x="4338917" y="1238137"/>
            <a:ext cx="266251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Validation Accuracy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đứng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63%</a:t>
            </a:r>
          </a:p>
          <a:p>
            <a:r>
              <a:rPr lang="en-US" dirty="0">
                <a:sym typeface="Wingdings" panose="05000000000000000000" pitchFamily="2" charset="2"/>
              </a:rPr>
              <a:t> 2 </a:t>
            </a:r>
            <a:r>
              <a:rPr lang="en-US" dirty="0" err="1">
                <a:sym typeface="Wingdings" panose="05000000000000000000" pitchFamily="2" charset="2"/>
              </a:rPr>
              <a:t>lớp</a:t>
            </a:r>
            <a:r>
              <a:rPr lang="en-US" dirty="0">
                <a:sym typeface="Wingdings" panose="05000000000000000000" pitchFamily="2" charset="2"/>
              </a:rPr>
              <a:t> Fully Connected </a:t>
            </a:r>
            <a:r>
              <a:rPr lang="en-US" dirty="0" err="1">
                <a:sym typeface="Wingdings" panose="05000000000000000000" pitchFamily="2" charset="2"/>
              </a:rPr>
              <a:t>chưa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đủ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khả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năng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trích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xuất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đặc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trưng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21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E0F8F-6444-FB2A-B765-845A9FFA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CSNN on ESP32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D9EB6-2BF6-A5CF-C350-C01F1FC573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C145C0-7269-421A-92E2-2F29E161ADE6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301C7-7F66-2DFE-A25A-0BFE187FA4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/>
              <a:t>Nguyễn Văn Hướng@CICA-ITI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106E4-9243-E44E-9A56-0084468FC8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E54F7C-9E35-B3A5-2B54-6EBA8A8B26F7}"/>
              </a:ext>
            </a:extLst>
          </p:cNvPr>
          <p:cNvSpPr/>
          <p:nvPr/>
        </p:nvSpPr>
        <p:spPr>
          <a:xfrm>
            <a:off x="4837112" y="1701471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Micro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70942E-7CB9-9BFD-2910-9FA5E7220C28}"/>
              </a:ext>
            </a:extLst>
          </p:cNvPr>
          <p:cNvSpPr/>
          <p:nvPr/>
        </p:nvSpPr>
        <p:spPr>
          <a:xfrm>
            <a:off x="4837111" y="2510002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I2S driver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35D64E-01FB-0FF6-394B-8229F0905F94}"/>
              </a:ext>
            </a:extLst>
          </p:cNvPr>
          <p:cNvSpPr/>
          <p:nvPr/>
        </p:nvSpPr>
        <p:spPr>
          <a:xfrm>
            <a:off x="4837111" y="4204577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3326E5-E117-96A9-60D5-C7A9CEE8EB72}"/>
              </a:ext>
            </a:extLst>
          </p:cNvPr>
          <p:cNvSpPr/>
          <p:nvPr/>
        </p:nvSpPr>
        <p:spPr>
          <a:xfrm>
            <a:off x="8448675" y="1990725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OLED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97534E-1AFE-3219-44CE-0DC77477CA83}"/>
              </a:ext>
            </a:extLst>
          </p:cNvPr>
          <p:cNvSpPr/>
          <p:nvPr/>
        </p:nvSpPr>
        <p:spPr>
          <a:xfrm>
            <a:off x="1643061" y="4027488"/>
            <a:ext cx="128316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Quantization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4B866C-B930-6604-9E56-3ABE50503EC0}"/>
              </a:ext>
            </a:extLst>
          </p:cNvPr>
          <p:cNvSpPr/>
          <p:nvPr/>
        </p:nvSpPr>
        <p:spPr>
          <a:xfrm>
            <a:off x="1643061" y="3301208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CSNN model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4C1FB6-806F-34BB-838B-749DD5268776}"/>
              </a:ext>
            </a:extLst>
          </p:cNvPr>
          <p:cNvSpPr/>
          <p:nvPr/>
        </p:nvSpPr>
        <p:spPr>
          <a:xfrm>
            <a:off x="1501307" y="2371725"/>
            <a:ext cx="1359834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Log-mel Spectrogram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1A73A8-B790-3CA3-A26A-C30E533CD279}"/>
              </a:ext>
            </a:extLst>
          </p:cNvPr>
          <p:cNvSpPr/>
          <p:nvPr/>
        </p:nvSpPr>
        <p:spPr>
          <a:xfrm>
            <a:off x="1436220" y="1611710"/>
            <a:ext cx="1490009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Google speech commands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F37698-C423-03B4-A375-2DDABBC462EC}"/>
              </a:ext>
            </a:extLst>
          </p:cNvPr>
          <p:cNvSpPr/>
          <p:nvPr/>
        </p:nvSpPr>
        <p:spPr>
          <a:xfrm>
            <a:off x="4837111" y="3285475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Log-mel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92DD28-3BE7-B9EB-594C-96675220E693}"/>
              </a:ext>
            </a:extLst>
          </p:cNvPr>
          <p:cNvSpPr/>
          <p:nvPr/>
        </p:nvSpPr>
        <p:spPr>
          <a:xfrm>
            <a:off x="8497981" y="4360118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Serial Monitor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106F458-EF3C-4BCF-D721-0E4B54703BAE}"/>
              </a:ext>
            </a:extLst>
          </p:cNvPr>
          <p:cNvSpPr/>
          <p:nvPr/>
        </p:nvSpPr>
        <p:spPr>
          <a:xfrm>
            <a:off x="8497981" y="3200400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B325DC-20F2-D9DE-42AD-CA19D014A07A}"/>
              </a:ext>
            </a:extLst>
          </p:cNvPr>
          <p:cNvSpPr/>
          <p:nvPr/>
        </p:nvSpPr>
        <p:spPr>
          <a:xfrm>
            <a:off x="1746482" y="4828780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Export weights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B6EF91-E591-73AC-F50B-E1245FADD4BF}"/>
              </a:ext>
            </a:extLst>
          </p:cNvPr>
          <p:cNvSpPr/>
          <p:nvPr/>
        </p:nvSpPr>
        <p:spPr>
          <a:xfrm>
            <a:off x="6373811" y="3200400"/>
            <a:ext cx="1076325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BD37C0-596F-C719-BFCB-EA15D0EA29E6}"/>
              </a:ext>
            </a:extLst>
          </p:cNvPr>
          <p:cNvSpPr/>
          <p:nvPr/>
        </p:nvSpPr>
        <p:spPr>
          <a:xfrm>
            <a:off x="1004047" y="1389529"/>
            <a:ext cx="2844800" cy="42223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223D40-3E22-7FDE-085B-B0A3A503BD2F}"/>
              </a:ext>
            </a:extLst>
          </p:cNvPr>
          <p:cNvSpPr/>
          <p:nvPr/>
        </p:nvSpPr>
        <p:spPr>
          <a:xfrm>
            <a:off x="4686767" y="1402886"/>
            <a:ext cx="2844800" cy="42223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F72FB9-39CF-4887-C25C-E1E48143CC0D}"/>
              </a:ext>
            </a:extLst>
          </p:cNvPr>
          <p:cNvSpPr txBox="1"/>
          <p:nvPr/>
        </p:nvSpPr>
        <p:spPr>
          <a:xfrm>
            <a:off x="924810" y="5415692"/>
            <a:ext cx="13598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Training phase (PC)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D5CF7D-7B7E-6B38-DB20-B1AC2AB0F3F8}"/>
              </a:ext>
            </a:extLst>
          </p:cNvPr>
          <p:cNvSpPr txBox="1"/>
          <p:nvPr/>
        </p:nvSpPr>
        <p:spPr>
          <a:xfrm>
            <a:off x="4621958" y="5433988"/>
            <a:ext cx="21105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Deployment phase (ESP32)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C048C3-8AB0-B66A-CFE1-519D45686F94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flipH="1">
            <a:off x="2181224" y="2068910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22CC89-57F8-D4FD-5E56-01AFAC72FA00}"/>
              </a:ext>
            </a:extLst>
          </p:cNvPr>
          <p:cNvCxnSpPr>
            <a:cxnSpLocks/>
          </p:cNvCxnSpPr>
          <p:nvPr/>
        </p:nvCxnSpPr>
        <p:spPr>
          <a:xfrm flipH="1">
            <a:off x="2190002" y="2896031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158F00-5F8C-D724-82AC-7CB475A9335D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7450136" y="2219325"/>
            <a:ext cx="998539" cy="1237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F1581BB-E34C-3D3D-C0F6-9596237CAA50}"/>
              </a:ext>
            </a:extLst>
          </p:cNvPr>
          <p:cNvCxnSpPr>
            <a:cxnSpLocks/>
          </p:cNvCxnSpPr>
          <p:nvPr/>
        </p:nvCxnSpPr>
        <p:spPr>
          <a:xfrm flipH="1">
            <a:off x="2638424" y="2526110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3693E8-7A26-9C14-CD4F-F12A96ACE57D}"/>
              </a:ext>
            </a:extLst>
          </p:cNvPr>
          <p:cNvCxnSpPr>
            <a:cxnSpLocks/>
          </p:cNvCxnSpPr>
          <p:nvPr/>
        </p:nvCxnSpPr>
        <p:spPr>
          <a:xfrm flipH="1">
            <a:off x="2190002" y="3736712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2D68C6B-50C9-A45E-D3CD-CF05C53E086D}"/>
              </a:ext>
            </a:extLst>
          </p:cNvPr>
          <p:cNvCxnSpPr>
            <a:cxnSpLocks/>
          </p:cNvCxnSpPr>
          <p:nvPr/>
        </p:nvCxnSpPr>
        <p:spPr>
          <a:xfrm flipH="1">
            <a:off x="2284644" y="4514503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7F3A43-5A6B-43B5-1696-5F0BEDBEC634}"/>
              </a:ext>
            </a:extLst>
          </p:cNvPr>
          <p:cNvCxnSpPr>
            <a:cxnSpLocks/>
          </p:cNvCxnSpPr>
          <p:nvPr/>
        </p:nvCxnSpPr>
        <p:spPr>
          <a:xfrm flipH="1">
            <a:off x="5375272" y="2174129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3DF7195-CD38-82A4-07A7-51798EABAD6F}"/>
              </a:ext>
            </a:extLst>
          </p:cNvPr>
          <p:cNvCxnSpPr>
            <a:cxnSpLocks/>
          </p:cNvCxnSpPr>
          <p:nvPr/>
        </p:nvCxnSpPr>
        <p:spPr>
          <a:xfrm flipH="1">
            <a:off x="5456702" y="2939066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AF19A61-1C7D-9BA1-341F-8FAFB4DC8725}"/>
              </a:ext>
            </a:extLst>
          </p:cNvPr>
          <p:cNvCxnSpPr>
            <a:cxnSpLocks/>
          </p:cNvCxnSpPr>
          <p:nvPr/>
        </p:nvCxnSpPr>
        <p:spPr>
          <a:xfrm>
            <a:off x="2926229" y="5057380"/>
            <a:ext cx="17281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044164-53E6-080B-F50E-A0B091A4083B}"/>
              </a:ext>
            </a:extLst>
          </p:cNvPr>
          <p:cNvCxnSpPr>
            <a:cxnSpLocks/>
          </p:cNvCxnSpPr>
          <p:nvPr/>
        </p:nvCxnSpPr>
        <p:spPr>
          <a:xfrm flipH="1">
            <a:off x="5450537" y="3828133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62ACDB-D680-4D5A-B119-BCC70778FC07}"/>
              </a:ext>
            </a:extLst>
          </p:cNvPr>
          <p:cNvCxnSpPr>
            <a:cxnSpLocks/>
          </p:cNvCxnSpPr>
          <p:nvPr/>
        </p:nvCxnSpPr>
        <p:spPr>
          <a:xfrm flipV="1">
            <a:off x="5942758" y="3420239"/>
            <a:ext cx="401730" cy="986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7D4257-F3DA-B43D-FEAD-29C5CCD86A91}"/>
              </a:ext>
            </a:extLst>
          </p:cNvPr>
          <p:cNvCxnSpPr>
            <a:cxnSpLocks/>
          </p:cNvCxnSpPr>
          <p:nvPr/>
        </p:nvCxnSpPr>
        <p:spPr>
          <a:xfrm flipH="1">
            <a:off x="2638424" y="2526110"/>
            <a:ext cx="1" cy="302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941709-22CD-4B0E-AD24-3B02B66F09CE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>
            <a:off x="7450136" y="3429000"/>
            <a:ext cx="10478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709E4F2-CE8A-9E8E-6505-FA84BE17B482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479459" y="3420239"/>
            <a:ext cx="1018522" cy="11684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39F7F186-6DD9-E739-D28E-72FBBDE516D7}"/>
              </a:ext>
            </a:extLst>
          </p:cNvPr>
          <p:cNvSpPr txBox="1"/>
          <p:nvPr/>
        </p:nvSpPr>
        <p:spPr>
          <a:xfrm>
            <a:off x="2179730" y="2047484"/>
            <a:ext cx="91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Raw Audio (.wav, 16 kHz)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A5D3FE-6D61-F98B-B756-03FB14495F1B}"/>
              </a:ext>
            </a:extLst>
          </p:cNvPr>
          <p:cNvSpPr txBox="1"/>
          <p:nvPr/>
        </p:nvSpPr>
        <p:spPr>
          <a:xfrm>
            <a:off x="2181223" y="3716079"/>
            <a:ext cx="91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Trained Weights (.</a:t>
            </a:r>
            <a:r>
              <a:rPr lang="en-US" sz="800" dirty="0" err="1"/>
              <a:t>pth</a:t>
            </a:r>
            <a:r>
              <a:rPr lang="en-US" sz="800" dirty="0"/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ADD662-2005-0E96-EB2F-7B3789871C19}"/>
              </a:ext>
            </a:extLst>
          </p:cNvPr>
          <p:cNvSpPr txBox="1"/>
          <p:nvPr/>
        </p:nvSpPr>
        <p:spPr>
          <a:xfrm>
            <a:off x="2173565" y="2840823"/>
            <a:ext cx="917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Log-Mel Features</a:t>
            </a:r>
          </a:p>
          <a:p>
            <a:r>
              <a:rPr lang="en-US" sz="800" dirty="0"/>
              <a:t>(64 × T)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E5562B-B0D0-1600-5EB6-3FDFDE991180}"/>
              </a:ext>
            </a:extLst>
          </p:cNvPr>
          <p:cNvSpPr txBox="1"/>
          <p:nvPr/>
        </p:nvSpPr>
        <p:spPr>
          <a:xfrm>
            <a:off x="2252520" y="4559008"/>
            <a:ext cx="917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INT 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E3A595-FADF-A93F-F835-7A2E8091E1E7}"/>
              </a:ext>
            </a:extLst>
          </p:cNvPr>
          <p:cNvSpPr txBox="1"/>
          <p:nvPr/>
        </p:nvSpPr>
        <p:spPr>
          <a:xfrm>
            <a:off x="2930783" y="5027024"/>
            <a:ext cx="2689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Quantized Weights</a:t>
            </a:r>
          </a:p>
          <a:p>
            <a:r>
              <a:rPr lang="en-US" sz="800" dirty="0"/>
              <a:t>(.h / .</a:t>
            </a:r>
            <a:r>
              <a:rPr lang="en-US" sz="800" dirty="0" err="1"/>
              <a:t>cpp</a:t>
            </a:r>
            <a:r>
              <a:rPr lang="en-US" sz="800" dirty="0"/>
              <a:t>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46F08C-9B93-72E8-0E21-CFEBD381AE88}"/>
              </a:ext>
            </a:extLst>
          </p:cNvPr>
          <p:cNvSpPr txBox="1"/>
          <p:nvPr/>
        </p:nvSpPr>
        <p:spPr>
          <a:xfrm>
            <a:off x="5369431" y="2156259"/>
            <a:ext cx="1359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PCM Audio</a:t>
            </a:r>
          </a:p>
          <a:p>
            <a:r>
              <a:rPr lang="en-US" sz="800" dirty="0"/>
              <a:t>16-bit 16 kHz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929E05-155C-186E-DB45-5BF14F80F7CE}"/>
              </a:ext>
            </a:extLst>
          </p:cNvPr>
          <p:cNvSpPr txBox="1"/>
          <p:nvPr/>
        </p:nvSpPr>
        <p:spPr>
          <a:xfrm>
            <a:off x="6111874" y="3902339"/>
            <a:ext cx="917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Class Scores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452AAD-ED2A-9EFA-5BFC-0B2A62CAFEA2}"/>
              </a:ext>
            </a:extLst>
          </p:cNvPr>
          <p:cNvSpPr txBox="1"/>
          <p:nvPr/>
        </p:nvSpPr>
        <p:spPr>
          <a:xfrm>
            <a:off x="5454742" y="2981308"/>
            <a:ext cx="917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PCM Buffer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B77F629-C66B-3513-A38F-E59B29291862}"/>
              </a:ext>
            </a:extLst>
          </p:cNvPr>
          <p:cNvSpPr txBox="1"/>
          <p:nvPr/>
        </p:nvSpPr>
        <p:spPr>
          <a:xfrm>
            <a:off x="7988720" y="2684459"/>
            <a:ext cx="917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Keyword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FF8743-557B-E05A-4E3F-C4ABFF2F3B33}"/>
              </a:ext>
            </a:extLst>
          </p:cNvPr>
          <p:cNvSpPr txBox="1"/>
          <p:nvPr/>
        </p:nvSpPr>
        <p:spPr>
          <a:xfrm>
            <a:off x="4899231" y="3788699"/>
            <a:ext cx="91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mel_buf</a:t>
            </a:r>
            <a:endParaRPr lang="en-US" sz="800" dirty="0"/>
          </a:p>
          <a:p>
            <a:r>
              <a:rPr lang="en-US" sz="800" dirty="0"/>
              <a:t>(64 × T)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2CFCB2D-3F67-7379-E308-8EB5B7E11671}"/>
              </a:ext>
            </a:extLst>
          </p:cNvPr>
          <p:cNvSpPr txBox="1"/>
          <p:nvPr/>
        </p:nvSpPr>
        <p:spPr>
          <a:xfrm>
            <a:off x="8080513" y="3876106"/>
            <a:ext cx="1651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/>
              <a:t>Serial.print</a:t>
            </a:r>
            <a:r>
              <a:rPr lang="en-US" sz="800" dirty="0"/>
              <a:t>() : Class ID, Confidence, Inference Time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9FE1DE4-9B85-339B-2470-148DB588A839}"/>
              </a:ext>
            </a:extLst>
          </p:cNvPr>
          <p:cNvSpPr txBox="1"/>
          <p:nvPr/>
        </p:nvSpPr>
        <p:spPr>
          <a:xfrm>
            <a:off x="7749151" y="3248986"/>
            <a:ext cx="9173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LED Blink</a:t>
            </a:r>
          </a:p>
        </p:txBody>
      </p:sp>
    </p:spTree>
    <p:extLst>
      <p:ext uri="{BB962C8B-B14F-4D97-AF65-F5344CB8AC3E}">
        <p14:creationId xmlns:p14="http://schemas.microsoft.com/office/powerpoint/2010/main" val="69789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887E5-15AA-8348-04B2-5A12F6B6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B822F-D994-6EF2-8890-36B40C2C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149E1-CA67-E9D6-125D-E6271DDD57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C145C0-7269-421A-92E2-2F29E161ADE6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80467-81D2-B46D-764E-AA09B341889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/>
              <a:t>Nguyễn Văn Hướng@CICA-ITI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7D90B-CEB3-9B83-D08B-67103A86BD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B93B6-468B-C670-3FE0-E811407B1262}"/>
              </a:ext>
            </a:extLst>
          </p:cNvPr>
          <p:cNvSpPr txBox="1"/>
          <p:nvPr/>
        </p:nvSpPr>
        <p:spPr>
          <a:xfrm>
            <a:off x="566440" y="1295929"/>
            <a:ext cx="455407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/>
              <a:t>Mục</a:t>
            </a:r>
            <a:r>
              <a:rPr lang="en-US" sz="1800" b="1" dirty="0"/>
              <a:t> </a:t>
            </a:r>
            <a:r>
              <a:rPr lang="en-US" sz="1800" b="1" dirty="0" err="1"/>
              <a:t>tiêu</a:t>
            </a:r>
            <a:r>
              <a:rPr lang="en-US" sz="1800" b="1" dirty="0"/>
              <a:t> </a:t>
            </a:r>
            <a:r>
              <a:rPr lang="en-US" sz="1800" b="1" dirty="0" err="1"/>
              <a:t>dự</a:t>
            </a:r>
            <a:r>
              <a:rPr lang="en-US" sz="1800" b="1" dirty="0"/>
              <a:t> </a:t>
            </a:r>
            <a:r>
              <a:rPr lang="en-US" sz="1800" b="1" dirty="0" err="1"/>
              <a:t>án</a:t>
            </a: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Xây</a:t>
            </a:r>
            <a:r>
              <a:rPr lang="en-US" sz="1800" dirty="0"/>
              <a:t> </a:t>
            </a:r>
            <a:r>
              <a:rPr lang="en-US" sz="1800" dirty="0" err="1"/>
              <a:t>dựng</a:t>
            </a:r>
            <a:r>
              <a:rPr lang="en-US" sz="1800" dirty="0"/>
              <a:t>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b="1" dirty="0"/>
              <a:t>KWS</a:t>
            </a:r>
            <a:r>
              <a:rPr lang="en-US" sz="1800" dirty="0"/>
              <a:t> </a:t>
            </a:r>
            <a:r>
              <a:rPr lang="en-US" sz="1800" dirty="0" err="1"/>
              <a:t>chạy</a:t>
            </a:r>
            <a:r>
              <a:rPr lang="en-US" sz="1800" dirty="0"/>
              <a:t> </a:t>
            </a:r>
            <a:r>
              <a:rPr lang="en-US" sz="1800" dirty="0" err="1"/>
              <a:t>thời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 </a:t>
            </a: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trên</a:t>
            </a:r>
            <a:r>
              <a:rPr lang="en-US" sz="1800" dirty="0"/>
              <a:t> ESP32.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Khi </a:t>
            </a:r>
            <a:r>
              <a:rPr lang="en-US" sz="1800" dirty="0" err="1"/>
              <a:t>phát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r>
              <a:rPr lang="en-US" sz="1800" dirty="0"/>
              <a:t> </a:t>
            </a:r>
            <a:r>
              <a:rPr lang="en-US" sz="1800" dirty="0" err="1"/>
              <a:t>đúng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khóa</a:t>
            </a:r>
            <a:r>
              <a:rPr lang="en-US" sz="1800" dirty="0"/>
              <a:t>, ESP32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khiển</a:t>
            </a:r>
            <a:r>
              <a:rPr lang="en-US" sz="1800" dirty="0"/>
              <a:t> LED </a:t>
            </a:r>
            <a:r>
              <a:rPr lang="en-US" sz="1800" dirty="0" err="1"/>
              <a:t>nhấp</a:t>
            </a:r>
            <a:r>
              <a:rPr lang="en-US" sz="1800" dirty="0"/>
              <a:t> </a:t>
            </a:r>
            <a:r>
              <a:rPr lang="en-US" sz="1800" dirty="0" err="1"/>
              <a:t>nháy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xác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nhận</a:t>
            </a:r>
            <a:r>
              <a:rPr lang="en-US" sz="1800" dirty="0"/>
              <a:t> </a:t>
            </a:r>
            <a:r>
              <a:rPr lang="en-US" sz="1800" dirty="0" err="1"/>
              <a:t>dạng</a:t>
            </a:r>
            <a:r>
              <a:rPr lang="en-US" sz="1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chứng</a:t>
            </a:r>
            <a:r>
              <a:rPr lang="en-US" sz="1800" dirty="0"/>
              <a:t> </a:t>
            </a:r>
            <a:r>
              <a:rPr lang="en-US" sz="1800" dirty="0" err="1"/>
              <a:t>khả</a:t>
            </a:r>
            <a:r>
              <a:rPr lang="en-US" sz="1800" dirty="0"/>
              <a:t> </a:t>
            </a:r>
            <a:r>
              <a:rPr lang="en-US" sz="1800" dirty="0" err="1"/>
              <a:t>năng</a:t>
            </a:r>
            <a:r>
              <a:rPr lang="en-US" sz="1800" dirty="0"/>
              <a:t> </a:t>
            </a:r>
            <a:r>
              <a:rPr lang="en-US" sz="1800" dirty="0" err="1"/>
              <a:t>triển</a:t>
            </a:r>
            <a:r>
              <a:rPr lang="en-US" sz="1800" dirty="0"/>
              <a:t> </a:t>
            </a:r>
            <a:r>
              <a:rPr lang="en-US" sz="1800" dirty="0" err="1"/>
              <a:t>khai</a:t>
            </a:r>
            <a:r>
              <a:rPr lang="en-US" sz="1800" dirty="0"/>
              <a:t> </a:t>
            </a:r>
            <a:r>
              <a:rPr lang="en-US" sz="1800" dirty="0" err="1"/>
              <a:t>mô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CSNN </a:t>
            </a:r>
            <a:r>
              <a:rPr lang="en-US" sz="1800" dirty="0" err="1"/>
              <a:t>trên</a:t>
            </a:r>
            <a:r>
              <a:rPr lang="en-US" sz="1800" dirty="0"/>
              <a:t> </a:t>
            </a: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r>
              <a:rPr lang="en-US" sz="1800" dirty="0"/>
              <a:t> </a:t>
            </a:r>
            <a:r>
              <a:rPr lang="en-US" sz="1800" dirty="0" err="1"/>
              <a:t>yếu</a:t>
            </a:r>
            <a:r>
              <a:rPr lang="en-US" sz="1800" dirty="0"/>
              <a:t>.</a:t>
            </a:r>
          </a:p>
          <a:p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AA35C-B37C-DAA6-BF14-FF153AE1A1CD}"/>
              </a:ext>
            </a:extLst>
          </p:cNvPr>
          <p:cNvSpPr txBox="1"/>
          <p:nvPr/>
        </p:nvSpPr>
        <p:spPr>
          <a:xfrm>
            <a:off x="5569380" y="1352699"/>
            <a:ext cx="49140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Khó khăn khi đưa model lên ESP32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Giới hạn RAM nghiêm trọng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Giới</a:t>
            </a:r>
            <a:r>
              <a:rPr lang="en-US" sz="1800" dirty="0"/>
              <a:t> </a:t>
            </a:r>
            <a:r>
              <a:rPr lang="en-US" sz="1800" dirty="0" err="1"/>
              <a:t>hạn</a:t>
            </a:r>
            <a:r>
              <a:rPr lang="en-US" sz="1800" dirty="0"/>
              <a:t> Flash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phần</a:t>
            </a:r>
            <a:r>
              <a:rPr lang="en-US" sz="1800" dirty="0"/>
              <a:t> </a:t>
            </a:r>
            <a:r>
              <a:rPr lang="en-US" sz="1800" dirty="0" err="1"/>
              <a:t>cứng</a:t>
            </a:r>
            <a:r>
              <a:rPr lang="en-US" sz="1800" dirty="0"/>
              <a:t> </a:t>
            </a:r>
            <a:r>
              <a:rPr lang="en-US" sz="1800" dirty="0" err="1"/>
              <a:t>hỗ</a:t>
            </a:r>
            <a:r>
              <a:rPr lang="en-US" sz="1800" dirty="0"/>
              <a:t> </a:t>
            </a:r>
            <a:r>
              <a:rPr lang="en-US" sz="1800" dirty="0" err="1"/>
              <a:t>trợ</a:t>
            </a:r>
            <a:r>
              <a:rPr lang="en-US" sz="1800" dirty="0"/>
              <a:t>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Yêu cầu giảm kích thước model nhưng vẫn giữ accuracy — đây là bài toán đánh đổi chính của dự án: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086521-9107-21D2-486F-4756F87C5F12}"/>
              </a:ext>
            </a:extLst>
          </p:cNvPr>
          <p:cNvSpPr txBox="1"/>
          <p:nvPr/>
        </p:nvSpPr>
        <p:spPr>
          <a:xfrm>
            <a:off x="609600" y="3663468"/>
            <a:ext cx="5153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800" b="1" dirty="0"/>
              <a:t>Kết quả đạt được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Sau khi tối ưu, model RLIF chạy được trên ESP32 với: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Flash sử dụng: 735KB / 3MB (23%)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RAM sử dụng: 107KB / 327KB (32%)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Val Accuracy: 85.75% | Test Accuracy: 83.6%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800" dirty="0"/>
              <a:t>Thời gian suy luận: ~400ms mỗi lần nhận dạng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227BB7-B26E-1496-9520-AFC43FF22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728" y="4121618"/>
            <a:ext cx="2943636" cy="1981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A21D38-B4CD-1DE0-08D0-8B781A97F59E}"/>
              </a:ext>
            </a:extLst>
          </p:cNvPr>
          <p:cNvSpPr txBox="1"/>
          <p:nvPr/>
        </p:nvSpPr>
        <p:spPr>
          <a:xfrm>
            <a:off x="6287993" y="3560584"/>
            <a:ext cx="26475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hlinkClick r:id="rId3"/>
              </a:rPr>
              <a:t>Kết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quả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realtime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815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27135-4052-9E44-35C2-424F810D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sau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2CF5-63BD-EB60-7743-382444209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143002"/>
            <a:ext cx="6966857" cy="4983163"/>
          </a:xfrm>
        </p:spPr>
        <p:txBody>
          <a:bodyPr>
            <a:normAutofit/>
          </a:bodyPr>
          <a:lstStyle/>
          <a:p>
            <a:r>
              <a:rPr lang="en-US" sz="2300" dirty="0"/>
              <a:t>Định </a:t>
            </a:r>
            <a:r>
              <a:rPr lang="en-US" sz="2300" dirty="0" err="1"/>
              <a:t>hướng</a:t>
            </a:r>
            <a:r>
              <a:rPr lang="en-US" sz="2300" dirty="0"/>
              <a:t> </a:t>
            </a:r>
            <a:r>
              <a:rPr lang="en-US" sz="2300" dirty="0" err="1"/>
              <a:t>cho</a:t>
            </a:r>
            <a:r>
              <a:rPr lang="en-US" sz="2300" dirty="0"/>
              <a:t> </a:t>
            </a:r>
            <a:r>
              <a:rPr lang="en-US" sz="2300" dirty="0" err="1"/>
              <a:t>kì</a:t>
            </a:r>
            <a:r>
              <a:rPr lang="en-US" sz="2300" dirty="0"/>
              <a:t> </a:t>
            </a:r>
            <a:r>
              <a:rPr lang="en-US" sz="2300" dirty="0" err="1"/>
              <a:t>thực</a:t>
            </a:r>
            <a:r>
              <a:rPr lang="en-US" sz="2300" dirty="0"/>
              <a:t> </a:t>
            </a:r>
            <a:r>
              <a:rPr lang="en-US" sz="2300" dirty="0" err="1"/>
              <a:t>tập</a:t>
            </a:r>
            <a:r>
              <a:rPr lang="en-US" sz="2300" dirty="0"/>
              <a:t> </a:t>
            </a:r>
            <a:r>
              <a:rPr lang="en-US" sz="2300" dirty="0" err="1"/>
              <a:t>hè</a:t>
            </a:r>
            <a:r>
              <a:rPr lang="en-US" sz="2300" dirty="0"/>
              <a:t> : </a:t>
            </a:r>
          </a:p>
          <a:p>
            <a:pPr lvl="1"/>
            <a:r>
              <a:rPr lang="en-US" sz="2300" dirty="0" err="1"/>
              <a:t>Làm</a:t>
            </a:r>
            <a:r>
              <a:rPr lang="en-US" sz="2300" dirty="0"/>
              <a:t> </a:t>
            </a:r>
            <a:r>
              <a:rPr lang="en-US" sz="2300" dirty="0" err="1"/>
              <a:t>thêm</a:t>
            </a:r>
            <a:r>
              <a:rPr lang="en-US" sz="2300" dirty="0"/>
              <a:t> </a:t>
            </a:r>
            <a:r>
              <a:rPr lang="en-US" sz="2300" dirty="0" err="1"/>
              <a:t>các</a:t>
            </a:r>
            <a:r>
              <a:rPr lang="en-US" sz="2300" dirty="0"/>
              <a:t> project </a:t>
            </a:r>
            <a:r>
              <a:rPr lang="en-US" sz="2300" dirty="0" err="1"/>
              <a:t>sử</a:t>
            </a:r>
            <a:r>
              <a:rPr lang="en-US" sz="2300" dirty="0"/>
              <a:t> </a:t>
            </a:r>
            <a:r>
              <a:rPr lang="en-US" sz="2300" dirty="0" err="1"/>
              <a:t>dụng</a:t>
            </a:r>
            <a:r>
              <a:rPr lang="en-US" sz="2300" dirty="0"/>
              <a:t> </a:t>
            </a:r>
            <a:r>
              <a:rPr lang="en-US" sz="2300" dirty="0" err="1"/>
              <a:t>các</a:t>
            </a:r>
            <a:r>
              <a:rPr lang="en-US" sz="2300" dirty="0"/>
              <a:t> </a:t>
            </a:r>
            <a:r>
              <a:rPr lang="en-US" sz="2300" dirty="0" err="1"/>
              <a:t>kiến</a:t>
            </a:r>
            <a:r>
              <a:rPr lang="en-US" sz="2300" dirty="0"/>
              <a:t> </a:t>
            </a:r>
            <a:r>
              <a:rPr lang="en-US" sz="2300" dirty="0" err="1"/>
              <a:t>thức</a:t>
            </a:r>
            <a:r>
              <a:rPr lang="en-US" sz="2300" dirty="0"/>
              <a:t> </a:t>
            </a:r>
            <a:r>
              <a:rPr lang="en-US" sz="2300" dirty="0" err="1"/>
              <a:t>liên</a:t>
            </a:r>
            <a:r>
              <a:rPr lang="en-US" sz="2300" dirty="0"/>
              <a:t> </a:t>
            </a:r>
            <a:r>
              <a:rPr lang="en-US" sz="2300" dirty="0" err="1"/>
              <a:t>quan</a:t>
            </a:r>
            <a:r>
              <a:rPr lang="en-US" sz="2300" dirty="0"/>
              <a:t> </a:t>
            </a:r>
            <a:r>
              <a:rPr lang="en-US" sz="2300" dirty="0" err="1"/>
              <a:t>đến</a:t>
            </a:r>
            <a:r>
              <a:rPr lang="en-US" sz="2300" dirty="0"/>
              <a:t> Embedded Linux/MCU.</a:t>
            </a:r>
          </a:p>
          <a:p>
            <a:pPr lvl="1"/>
            <a:r>
              <a:rPr lang="en-US" sz="2300" dirty="0" err="1"/>
              <a:t>Có</a:t>
            </a:r>
            <a:r>
              <a:rPr lang="en-US" sz="2300" dirty="0"/>
              <a:t> </a:t>
            </a:r>
            <a:r>
              <a:rPr lang="en-US" sz="2300" dirty="0" err="1"/>
              <a:t>công</a:t>
            </a:r>
            <a:r>
              <a:rPr lang="en-US" sz="2300" dirty="0"/>
              <a:t> </a:t>
            </a:r>
            <a:r>
              <a:rPr lang="en-US" sz="2300" dirty="0" err="1"/>
              <a:t>việc</a:t>
            </a:r>
            <a:r>
              <a:rPr lang="en-US" sz="2300" dirty="0"/>
              <a:t> </a:t>
            </a:r>
            <a:r>
              <a:rPr lang="en-US" sz="2300" dirty="0" err="1"/>
              <a:t>thực</a:t>
            </a:r>
            <a:r>
              <a:rPr lang="en-US" sz="2300" dirty="0"/>
              <a:t> </a:t>
            </a:r>
            <a:r>
              <a:rPr lang="en-US" sz="2300" dirty="0" err="1"/>
              <a:t>tập</a:t>
            </a:r>
            <a:r>
              <a:rPr lang="en-US" sz="2300" dirty="0"/>
              <a:t>.</a:t>
            </a:r>
          </a:p>
          <a:p>
            <a:r>
              <a:rPr lang="en-US" sz="2300" dirty="0" err="1"/>
              <a:t>Tối</a:t>
            </a:r>
            <a:r>
              <a:rPr lang="en-US" sz="2300" dirty="0"/>
              <a:t> </a:t>
            </a:r>
            <a:r>
              <a:rPr lang="en-US" sz="2300" dirty="0" err="1"/>
              <a:t>ưu</a:t>
            </a:r>
            <a:r>
              <a:rPr lang="en-US" sz="2300" dirty="0"/>
              <a:t> </a:t>
            </a:r>
            <a:r>
              <a:rPr lang="en-US" sz="2300" dirty="0" err="1"/>
              <a:t>các</a:t>
            </a:r>
            <a:r>
              <a:rPr lang="en-US" sz="2300" dirty="0"/>
              <a:t> model </a:t>
            </a:r>
            <a:r>
              <a:rPr lang="en-US" sz="2300" dirty="0" err="1"/>
              <a:t>hiện</a:t>
            </a:r>
            <a:r>
              <a:rPr lang="en-US" sz="2300" dirty="0"/>
              <a:t> </a:t>
            </a:r>
            <a:r>
              <a:rPr lang="en-US" sz="2300" dirty="0" err="1"/>
              <a:t>tại</a:t>
            </a:r>
            <a:r>
              <a:rPr lang="en-US" sz="2300" dirty="0"/>
              <a:t> </a:t>
            </a:r>
            <a:r>
              <a:rPr lang="en-US" sz="2300" dirty="0">
                <a:sym typeface="Wingdings" panose="05000000000000000000" pitchFamily="2" charset="2"/>
              </a:rPr>
              <a:t> </a:t>
            </a:r>
            <a:r>
              <a:rPr lang="en-US" sz="2300" dirty="0" err="1">
                <a:sym typeface="Wingdings" panose="05000000000000000000" pitchFamily="2" charset="2"/>
              </a:rPr>
              <a:t>cải</a:t>
            </a:r>
            <a:r>
              <a:rPr lang="en-US" sz="2300" dirty="0">
                <a:sym typeface="Wingdings" panose="05000000000000000000" pitchFamily="2" charset="2"/>
              </a:rPr>
              <a:t> </a:t>
            </a:r>
            <a:r>
              <a:rPr lang="en-US" sz="2300" dirty="0" err="1">
                <a:sym typeface="Wingdings" panose="05000000000000000000" pitchFamily="2" charset="2"/>
              </a:rPr>
              <a:t>thiện</a:t>
            </a:r>
            <a:r>
              <a:rPr lang="en-US" sz="2300" dirty="0">
                <a:sym typeface="Wingdings" panose="05000000000000000000" pitchFamily="2" charset="2"/>
              </a:rPr>
              <a:t> </a:t>
            </a:r>
            <a:r>
              <a:rPr lang="en-US" sz="2300" dirty="0" err="1">
                <a:sym typeface="Wingdings" panose="05000000000000000000" pitchFamily="2" charset="2"/>
              </a:rPr>
              <a:t>hai</a:t>
            </a:r>
            <a:r>
              <a:rPr lang="en-US" sz="2300" dirty="0">
                <a:sym typeface="Wingdings" panose="05000000000000000000" pitchFamily="2" charset="2"/>
              </a:rPr>
              <a:t> acc</a:t>
            </a:r>
          </a:p>
          <a:p>
            <a:r>
              <a:rPr lang="en-US" sz="2300" dirty="0">
                <a:sym typeface="Wingdings" panose="05000000000000000000" pitchFamily="2" charset="2"/>
              </a:rPr>
              <a:t>Deploy </a:t>
            </a:r>
            <a:r>
              <a:rPr lang="en-US" sz="2300" dirty="0" err="1">
                <a:sym typeface="Wingdings" panose="05000000000000000000" pitchFamily="2" charset="2"/>
              </a:rPr>
              <a:t>các</a:t>
            </a:r>
            <a:r>
              <a:rPr lang="en-US" sz="2300" dirty="0">
                <a:sym typeface="Wingdings" panose="05000000000000000000" pitchFamily="2" charset="2"/>
              </a:rPr>
              <a:t> model train </a:t>
            </a:r>
            <a:r>
              <a:rPr lang="en-US" sz="2300" dirty="0" err="1">
                <a:sym typeface="Wingdings" panose="05000000000000000000" pitchFamily="2" charset="2"/>
              </a:rPr>
              <a:t>được</a:t>
            </a:r>
            <a:r>
              <a:rPr lang="en-US" sz="2300" dirty="0">
                <a:sym typeface="Wingdings" panose="05000000000000000000" pitchFamily="2" charset="2"/>
              </a:rPr>
              <a:t> </a:t>
            </a:r>
            <a:r>
              <a:rPr lang="en-US" sz="2300" dirty="0" err="1">
                <a:sym typeface="Wingdings" panose="05000000000000000000" pitchFamily="2" charset="2"/>
              </a:rPr>
              <a:t>trên</a:t>
            </a:r>
            <a:r>
              <a:rPr lang="en-US" sz="2300" dirty="0">
                <a:sym typeface="Wingdings" panose="05000000000000000000" pitchFamily="2" charset="2"/>
              </a:rPr>
              <a:t> </a:t>
            </a:r>
            <a:r>
              <a:rPr lang="en-US" sz="2300" dirty="0" err="1">
                <a:sym typeface="Wingdings" panose="05000000000000000000" pitchFamily="2" charset="2"/>
              </a:rPr>
              <a:t>các</a:t>
            </a:r>
            <a:r>
              <a:rPr lang="en-US" sz="2300" dirty="0">
                <a:sym typeface="Wingdings" panose="05000000000000000000" pitchFamily="2" charset="2"/>
              </a:rPr>
              <a:t> kit.</a:t>
            </a:r>
            <a:endParaRPr lang="en-US" sz="23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9B5F-B713-33B3-914D-ACDC1BD9C8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C145C0-7269-421A-92E2-2F29E161ADE6}" type="datetime1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36F3A-EE44-6889-5661-45686A2070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vi-VN"/>
              <a:t>Nguyễn Văn Hướng@CICA-ITI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8A149-6967-F5FB-1F56-F5F4A7CE0C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72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94E6ACEE-8971-4B42-9AD2-A1CA8190691A}" type="datetime1">
              <a:rPr lang="en-US" smtClean="0"/>
              <a:t>6/26/2026</a:t>
            </a:fld>
            <a:endParaRPr/>
          </a:p>
        </p:txBody>
      </p:sp>
      <p:sp>
        <p:nvSpPr>
          <p:cNvPr id="187" name="Google Shape;187;p7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Nguyễn Văn </a:t>
            </a:r>
            <a:r>
              <a:rPr lang="en-US" dirty="0" err="1"/>
              <a:t>Hướng@CICA-ITI</a:t>
            </a:r>
            <a:endParaRPr dirty="0"/>
          </a:p>
        </p:txBody>
      </p:sp>
      <p:sp>
        <p:nvSpPr>
          <p:cNvPr id="188" name="Google Shape;188;p7"/>
          <p:cNvSpPr txBox="1">
            <a:spLocks noGrp="1"/>
          </p:cNvSpPr>
          <p:nvPr>
            <p:ph type="sldNum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89" name="Google Shape;189;p7"/>
          <p:cNvSpPr txBox="1"/>
          <p:nvPr/>
        </p:nvSpPr>
        <p:spPr>
          <a:xfrm>
            <a:off x="1320800" y="3223319"/>
            <a:ext cx="108712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3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XIN CẢM ƠN MỌI NGƯỜI ĐÃ LẮNG NGHE</a:t>
            </a:r>
            <a:endParaRPr lang="vi-V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4-SISLAB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2014-SISLAB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Report_3_4_2026</Template>
  <TotalTime>3388</TotalTime>
  <Words>1114</Words>
  <Application>Microsoft Office PowerPoint</Application>
  <PresentationFormat>Widescreen</PresentationFormat>
  <Paragraphs>211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 Math</vt:lpstr>
      <vt:lpstr>Wingdings</vt:lpstr>
      <vt:lpstr>2014-SISLAB template</vt:lpstr>
      <vt:lpstr>1_2014-SISLAB template</vt:lpstr>
      <vt:lpstr>Báo cáo hoạt động trên lab</vt:lpstr>
      <vt:lpstr>Hoạt động tuần qua</vt:lpstr>
      <vt:lpstr>SG Optimization Methods</vt:lpstr>
      <vt:lpstr>PowerPoint Presentation</vt:lpstr>
      <vt:lpstr>Overview diagram of CSNN KWS</vt:lpstr>
      <vt:lpstr>Ý tưởng</vt:lpstr>
      <vt:lpstr>CSNN layer</vt:lpstr>
      <vt:lpstr>Cấu trúc RLIF</vt:lpstr>
      <vt:lpstr>PowerPoint Presentation</vt:lpstr>
      <vt:lpstr>CSNN on ESP32</vt:lpstr>
      <vt:lpstr>KWS</vt:lpstr>
      <vt:lpstr>Kế hoạch tuần sau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Hướng</dc:creator>
  <cp:lastModifiedBy>Nguyễn Hướng</cp:lastModifiedBy>
  <cp:revision>21</cp:revision>
  <dcterms:created xsi:type="dcterms:W3CDTF">2026-04-13T03:20:45Z</dcterms:created>
  <dcterms:modified xsi:type="dcterms:W3CDTF">2026-06-26T15:46:38Z</dcterms:modified>
</cp:coreProperties>
</file>